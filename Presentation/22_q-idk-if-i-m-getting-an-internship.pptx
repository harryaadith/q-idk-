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F67CE2-102B-4B19-8DCE-0032B3BD5D83}">
  <a:tblStyle styleId="{60F67CE2-102B-4B19-8DCE-0032B3BD5D8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team and project. One line: autonomous ESP32 bricks that snap together into a self-organising surgical tray that tracks instruments.</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h474cb01d0a4c729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h474cb01d0a4c729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Retained surgical instruments are a never-event with serious patient harm. Counting today is manual and verbal. Our answer is a tray that counts for itself. Land the expected outcome: real-time accountability.</a:t>
            </a:r>
            <a:endParaRPr/>
          </a:p>
        </p:txBody>
      </p:sp>
      <p:sp>
        <p:nvSpPr>
          <p:cNvPr id="30" name="Google Shape;30;h474cb01d0a4c729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Retained surgical instruments are a never-event with serious patient harm. Counting today is manual and verbal. Our answer is a tray that counts for itself. Land the expected outcome: real-time accountability.</a:t>
            </a:r>
            <a:endParaRP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Existing smart-OR work focuses on RFID cabinets. The gap is the tray itself. Sensors on instruments hurt ergonomics and sterilisation, so we keep tags passive and put the intelligence in the tray. Modular peer bricks avoid a single point of failure.</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design choices: mesh instead of a central hub, passive tags instead of active tool electronics, and gyro-based relative orientation instead of a magnetic compass (no dependence on the magnetic environment). Then the four headline features.</a:t>
            </a:r>
            <a:endParaRPr/>
          </a:p>
        </p:txBody>
      </p:sp>
      <p:sp>
        <p:nvSpPr>
          <p:cNvPr id="73" name="Google Shape;7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firmware on every brick. Bricks broadcast telemetry over ESP-NOW; the brick with the lowest hardware ID elects itself gateway and hosts the Wi-Fi hotspot and dashboard. No router, cloud or server.</a:t>
            </a:r>
            <a:endParaRPr/>
          </a:p>
        </p:txBody>
      </p:sp>
      <p:sp>
        <p:nvSpPr>
          <p:cNvPr id="97" name="Google Shape;9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Per-brick hardware. RFID faces up to read instrument tags, IR faces sideways to detect neighbours, IMU gives rotation. All pins are on the standard ESP32 DevKit V1.</a:t>
            </a:r>
            <a:endParaRPr/>
          </a:p>
        </p:txBody>
      </p:sp>
      <p:sp>
        <p:nvSpPr>
          <p:cNvPr id="116" name="Google Shape;11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Identical wiring on every brick, all signal GPIOs 35 or below. Left side: RFID reset/select, RGB LED, motor gate, I2C to the IMU. Right side: RFID SPI, buzzer, four IR inputs.</a:t>
            </a:r>
            <a:endParaRPr/>
          </a:p>
        </p:txBody>
      </p:sp>
      <p:sp>
        <p:nvSpPr>
          <p:cNvPr id="124" name="Google Shape;12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h474cb01d0a4c7296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h474cb01d0a4c7296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Identical wiring on every brick, all signal GPIOs 35 or below. Left side: RFID reset/select, RGB LED, motor gate, I2C to the IMU. Right side: RFID SPI, buzzer, four IR inputs.</a:t>
            </a:r>
            <a:endParaRPr/>
          </a:p>
        </p:txBody>
      </p:sp>
      <p:sp>
        <p:nvSpPr>
          <p:cNvPr id="165" name="Google Shape;165;h474cb01d0a4c7296_0_1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474cb01d0a4c7296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h474cb01d0a4c7296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Identical wiring on every brick, all signal GPIOs 35 or below. Left side: RFID reset/select, RGB LED, motor gate, I2C to the IMU. Right side: RFID SPI, buzzer, four IR inputs.</a:t>
            </a:r>
            <a:endParaRPr/>
          </a:p>
        </p:txBody>
      </p:sp>
      <p:sp>
        <p:nvSpPr>
          <p:cNvPr id="171" name="Google Shape;171;h474cb01d0a4c7296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h474cb01d0a4c7296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h474cb01d0a4c7296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Identical wiring on every brick, all signal GPIOs 35 or below. Left side: RFID reset/select, RGB LED, motor gate, I2C to the IMU. Right side: RFID SPI, buzzer, four IR inputs.</a:t>
            </a:r>
            <a:endParaRPr/>
          </a:p>
        </p:txBody>
      </p:sp>
      <p:sp>
        <p:nvSpPr>
          <p:cNvPr id="179" name="Google Shape;179;h474cb01d0a4c7296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h474cb01d0a4c7296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h474cb01d0a4c7296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Identical wiring on every brick, all signal GPIOs 35 or below. Left side: RFID reset/select, RGB LED, motor gate, I2C to the IMU. Right side: RFID SPI, buzzer, four IR inputs.</a:t>
            </a:r>
            <a:endParaRPr/>
          </a:p>
        </p:txBody>
      </p:sp>
      <p:sp>
        <p:nvSpPr>
          <p:cNvPr id="186" name="Google Shape;186;h474cb01d0a4c7296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474cb01d0a4c7296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h474cb01d0a4c7296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Identical wiring on every brick, all signal GPIOs 35 or below. Left side: RFID reset/select, RGB LED, motor gate, I2C to the IMU. Right side: RFID SPI, buzzer, four IR inputs.</a:t>
            </a:r>
            <a:endParaRPr/>
          </a:p>
        </p:txBody>
      </p:sp>
      <p:sp>
        <p:nvSpPr>
          <p:cNvPr id="193" name="Google Shape;193;h474cb01d0a4c7296_0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six cards. Emphasise that the same firmware runs on every brick, the solver was verified against independent exhaustive checks in host tests, and hardware acceptance testing is in progress.</a:t>
            </a:r>
            <a:endParaRPr/>
          </a:p>
        </p:txBody>
      </p:sp>
      <p:sp>
        <p:nvSpPr>
          <p:cNvPr id="200" name="Google Shape;20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ca6cab70fc5f0b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hca6cab70fc5f0b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through the pipeline. Key point: we never guess. If tracking is lost we say so and ask for realignment, and when several layouts fit the readings we show all candidates and let the operator confirm.</a:t>
            </a:r>
            <a:endParaRPr/>
          </a:p>
        </p:txBody>
      </p:sp>
      <p:sp>
        <p:nvSpPr>
          <p:cNvPr id="219" name="Google Shape;219;hca6cab70fc5f0b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Left: where we are. Right: the main challenges and what we did about each. Be upfront that gyro drift is inherent and handled by realignment, and that continuous instrument-presence detection is still open.</a:t>
            </a:r>
            <a:endParaRPr/>
          </a:p>
        </p:txBody>
      </p:sp>
      <p:sp>
        <p:nvSpPr>
          <p:cNvPr id="227" name="Google Shape;22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Prioritise: finish hardware acceptance first, then continuous instrument presence, then scaling and enclosures. These are the items we expect to close before final evaluation.</a:t>
            </a:r>
            <a:endParaRPr/>
          </a:p>
        </p:txBody>
      </p:sp>
      <p:sp>
        <p:nvSpPr>
          <p:cNvPr id="246" name="Google Shape;24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2" name="Shape 12"/>
        <p:cNvGrpSpPr/>
        <p:nvPr/>
      </p:nvGrpSpPr>
      <p:grpSpPr>
        <a:xfrm>
          <a:off x="0" y="0"/>
          <a:ext cx="0" cy="0"/>
          <a:chOff x="0" y="0"/>
          <a:chExt cx="0" cy="0"/>
        </a:xfrm>
      </p:grpSpPr>
      <p:sp>
        <p:nvSpPr>
          <p:cNvPr id="13" name="Google Shape;13;p3"/>
          <p:cNvSpPr/>
          <p:nvPr/>
        </p:nvSpPr>
        <p:spPr>
          <a:xfrm>
            <a:off x="457200" y="274320"/>
            <a:ext cx="685800" cy="64008"/>
          </a:xfrm>
          <a:prstGeom prst="rect">
            <a:avLst/>
          </a:prstGeom>
          <a:solidFill>
            <a:srgbClr val="3B7C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txBox="1"/>
          <p:nvPr>
            <p:ph type="title"/>
          </p:nvPr>
        </p:nvSpPr>
        <p:spPr>
          <a:xfrm>
            <a:off x="457200" y="384048"/>
            <a:ext cx="8229600" cy="6400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1A1A2E"/>
              </a:buClr>
              <a:buSzPts val="3200"/>
              <a:buFont typeface="Calibri"/>
              <a:buNone/>
              <a:defRPr b="1" i="0" sz="3200" u="none" cap="none" strike="noStrike">
                <a:solidFill>
                  <a:srgbClr val="1A1A2E"/>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3"/>
          <p:cNvSpPr txBox="1"/>
          <p:nvPr>
            <p:ph idx="12"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000" u="none" cap="none" strike="noStrike">
                <a:solidFill>
                  <a:srgbClr val="5A6272"/>
                </a:solidFill>
                <a:latin typeface="Calibri"/>
                <a:ea typeface="Calibri"/>
                <a:cs typeface="Calibri"/>
                <a:sym typeface="Calibri"/>
              </a:defRPr>
            </a:lvl1pPr>
            <a:lvl2pPr indent="0" lvl="1" marL="0" marR="0" algn="l">
              <a:spcBef>
                <a:spcPts val="0"/>
              </a:spcBef>
              <a:buNone/>
              <a:defRPr b="0" i="0" sz="1000" u="none" cap="none" strike="noStrike">
                <a:solidFill>
                  <a:srgbClr val="5A6272"/>
                </a:solidFill>
                <a:latin typeface="Calibri"/>
                <a:ea typeface="Calibri"/>
                <a:cs typeface="Calibri"/>
                <a:sym typeface="Calibri"/>
              </a:defRPr>
            </a:lvl2pPr>
            <a:lvl3pPr indent="0" lvl="2" marL="0" marR="0" algn="l">
              <a:spcBef>
                <a:spcPts val="0"/>
              </a:spcBef>
              <a:buNone/>
              <a:defRPr b="0" i="0" sz="1000" u="none" cap="none" strike="noStrike">
                <a:solidFill>
                  <a:srgbClr val="5A6272"/>
                </a:solidFill>
                <a:latin typeface="Calibri"/>
                <a:ea typeface="Calibri"/>
                <a:cs typeface="Calibri"/>
                <a:sym typeface="Calibri"/>
              </a:defRPr>
            </a:lvl3pPr>
            <a:lvl4pPr indent="0" lvl="3" marL="0" marR="0" algn="l">
              <a:spcBef>
                <a:spcPts val="0"/>
              </a:spcBef>
              <a:buNone/>
              <a:defRPr b="0" i="0" sz="1000" u="none" cap="none" strike="noStrike">
                <a:solidFill>
                  <a:srgbClr val="5A6272"/>
                </a:solidFill>
                <a:latin typeface="Calibri"/>
                <a:ea typeface="Calibri"/>
                <a:cs typeface="Calibri"/>
                <a:sym typeface="Calibri"/>
              </a:defRPr>
            </a:lvl4pPr>
            <a:lvl5pPr indent="0" lvl="4" marL="0" marR="0" algn="l">
              <a:spcBef>
                <a:spcPts val="0"/>
              </a:spcBef>
              <a:buNone/>
              <a:defRPr b="0" i="0" sz="1000" u="none" cap="none" strike="noStrike">
                <a:solidFill>
                  <a:srgbClr val="5A6272"/>
                </a:solidFill>
                <a:latin typeface="Calibri"/>
                <a:ea typeface="Calibri"/>
                <a:cs typeface="Calibri"/>
                <a:sym typeface="Calibri"/>
              </a:defRPr>
            </a:lvl5pPr>
            <a:lvl6pPr indent="0" lvl="5" marL="0" marR="0" algn="l">
              <a:spcBef>
                <a:spcPts val="0"/>
              </a:spcBef>
              <a:buNone/>
              <a:defRPr b="0" i="0" sz="1000" u="none" cap="none" strike="noStrike">
                <a:solidFill>
                  <a:srgbClr val="5A6272"/>
                </a:solidFill>
                <a:latin typeface="Calibri"/>
                <a:ea typeface="Calibri"/>
                <a:cs typeface="Calibri"/>
                <a:sym typeface="Calibri"/>
              </a:defRPr>
            </a:lvl6pPr>
            <a:lvl7pPr indent="0" lvl="6" marL="0" marR="0" algn="l">
              <a:spcBef>
                <a:spcPts val="0"/>
              </a:spcBef>
              <a:buNone/>
              <a:defRPr b="0" i="0" sz="1000" u="none" cap="none" strike="noStrike">
                <a:solidFill>
                  <a:srgbClr val="5A6272"/>
                </a:solidFill>
                <a:latin typeface="Calibri"/>
                <a:ea typeface="Calibri"/>
                <a:cs typeface="Calibri"/>
                <a:sym typeface="Calibri"/>
              </a:defRPr>
            </a:lvl7pPr>
            <a:lvl8pPr indent="0" lvl="7" marL="0" marR="0" algn="l">
              <a:spcBef>
                <a:spcPts val="0"/>
              </a:spcBef>
              <a:buNone/>
              <a:defRPr b="0" i="0" sz="1000" u="none" cap="none" strike="noStrike">
                <a:solidFill>
                  <a:srgbClr val="5A6272"/>
                </a:solidFill>
                <a:latin typeface="Calibri"/>
                <a:ea typeface="Calibri"/>
                <a:cs typeface="Calibri"/>
                <a:sym typeface="Calibri"/>
              </a:defRPr>
            </a:lvl8pPr>
            <a:lvl9pPr indent="0" lvl="8" marL="0" marR="0" algn="l">
              <a:spcBef>
                <a:spcPts val="0"/>
              </a:spcBef>
              <a:buNone/>
              <a:defRPr b="0" i="0" sz="1000" u="none" cap="none" strike="noStrike">
                <a:solidFill>
                  <a:srgbClr val="5A6272"/>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000" u="none" cap="none" strike="noStrike">
                <a:solidFill>
                  <a:srgbClr val="5A6272"/>
                </a:solidFill>
                <a:latin typeface="Calibri"/>
                <a:ea typeface="Calibri"/>
                <a:cs typeface="Calibri"/>
                <a:sym typeface="Calibri"/>
              </a:defRPr>
            </a:lvl1pPr>
            <a:lvl2pPr indent="0" lvl="1" marL="0" marR="0" rtl="0" algn="l">
              <a:spcBef>
                <a:spcPts val="0"/>
              </a:spcBef>
              <a:buNone/>
              <a:defRPr b="0" i="0" sz="1000" u="none" cap="none" strike="noStrike">
                <a:solidFill>
                  <a:srgbClr val="5A6272"/>
                </a:solidFill>
                <a:latin typeface="Calibri"/>
                <a:ea typeface="Calibri"/>
                <a:cs typeface="Calibri"/>
                <a:sym typeface="Calibri"/>
              </a:defRPr>
            </a:lvl2pPr>
            <a:lvl3pPr indent="0" lvl="2" marL="0" marR="0" rtl="0" algn="l">
              <a:spcBef>
                <a:spcPts val="0"/>
              </a:spcBef>
              <a:buNone/>
              <a:defRPr b="0" i="0" sz="1000" u="none" cap="none" strike="noStrike">
                <a:solidFill>
                  <a:srgbClr val="5A6272"/>
                </a:solidFill>
                <a:latin typeface="Calibri"/>
                <a:ea typeface="Calibri"/>
                <a:cs typeface="Calibri"/>
                <a:sym typeface="Calibri"/>
              </a:defRPr>
            </a:lvl3pPr>
            <a:lvl4pPr indent="0" lvl="3" marL="0" marR="0" rtl="0" algn="l">
              <a:spcBef>
                <a:spcPts val="0"/>
              </a:spcBef>
              <a:buNone/>
              <a:defRPr b="0" i="0" sz="1000" u="none" cap="none" strike="noStrike">
                <a:solidFill>
                  <a:srgbClr val="5A6272"/>
                </a:solidFill>
                <a:latin typeface="Calibri"/>
                <a:ea typeface="Calibri"/>
                <a:cs typeface="Calibri"/>
                <a:sym typeface="Calibri"/>
              </a:defRPr>
            </a:lvl4pPr>
            <a:lvl5pPr indent="0" lvl="4" marL="0" marR="0" rtl="0" algn="l">
              <a:spcBef>
                <a:spcPts val="0"/>
              </a:spcBef>
              <a:buNone/>
              <a:defRPr b="0" i="0" sz="1000" u="none" cap="none" strike="noStrike">
                <a:solidFill>
                  <a:srgbClr val="5A6272"/>
                </a:solidFill>
                <a:latin typeface="Calibri"/>
                <a:ea typeface="Calibri"/>
                <a:cs typeface="Calibri"/>
                <a:sym typeface="Calibri"/>
              </a:defRPr>
            </a:lvl5pPr>
            <a:lvl6pPr indent="0" lvl="5" marL="0" marR="0" rtl="0" algn="l">
              <a:spcBef>
                <a:spcPts val="0"/>
              </a:spcBef>
              <a:buNone/>
              <a:defRPr b="0" i="0" sz="1000" u="none" cap="none" strike="noStrike">
                <a:solidFill>
                  <a:srgbClr val="5A6272"/>
                </a:solidFill>
                <a:latin typeface="Calibri"/>
                <a:ea typeface="Calibri"/>
                <a:cs typeface="Calibri"/>
                <a:sym typeface="Calibri"/>
              </a:defRPr>
            </a:lvl6pPr>
            <a:lvl7pPr indent="0" lvl="6" marL="0" marR="0" rtl="0" algn="l">
              <a:spcBef>
                <a:spcPts val="0"/>
              </a:spcBef>
              <a:buNone/>
              <a:defRPr b="0" i="0" sz="1000" u="none" cap="none" strike="noStrike">
                <a:solidFill>
                  <a:srgbClr val="5A6272"/>
                </a:solidFill>
                <a:latin typeface="Calibri"/>
                <a:ea typeface="Calibri"/>
                <a:cs typeface="Calibri"/>
                <a:sym typeface="Calibri"/>
              </a:defRPr>
            </a:lvl7pPr>
            <a:lvl8pPr indent="0" lvl="7" marL="0" marR="0" rtl="0" algn="l">
              <a:spcBef>
                <a:spcPts val="0"/>
              </a:spcBef>
              <a:buNone/>
              <a:defRPr b="0" i="0" sz="1000" u="none" cap="none" strike="noStrike">
                <a:solidFill>
                  <a:srgbClr val="5A6272"/>
                </a:solidFill>
                <a:latin typeface="Calibri"/>
                <a:ea typeface="Calibri"/>
                <a:cs typeface="Calibri"/>
                <a:sym typeface="Calibri"/>
              </a:defRPr>
            </a:lvl8pPr>
            <a:lvl9pPr indent="0" lvl="8" marL="0" marR="0" rtl="0" algn="l">
              <a:spcBef>
                <a:spcPts val="0"/>
              </a:spcBef>
              <a:buNone/>
              <a:defRPr b="0" i="0" sz="1000" u="none" cap="none" strike="noStrike">
                <a:solidFill>
                  <a:srgbClr val="5A6272"/>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 name="Shape 20"/>
        <p:cNvGrpSpPr/>
        <p:nvPr/>
      </p:nvGrpSpPr>
      <p:grpSpPr>
        <a:xfrm>
          <a:off x="0" y="0"/>
          <a:ext cx="0" cy="0"/>
          <a:chOff x="0" y="0"/>
          <a:chExt cx="0" cy="0"/>
        </a:xfrm>
      </p:grpSpPr>
      <p:sp>
        <p:nvSpPr>
          <p:cNvPr id="21" name="Google Shape;21;p4"/>
          <p:cNvSpPr/>
          <p:nvPr/>
        </p:nvSpPr>
        <p:spPr>
          <a:xfrm>
            <a:off x="548640" y="640080"/>
            <a:ext cx="685800" cy="64008"/>
          </a:xfrm>
          <a:prstGeom prst="rect">
            <a:avLst/>
          </a:prstGeom>
          <a:solidFill>
            <a:srgbClr val="3B7CF4"/>
          </a:solidFill>
          <a:ln cap="flat" cmpd="sng" w="12700">
            <a:solidFill>
              <a:srgbClr val="3B7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nvSpPr>
        <p:spPr>
          <a:xfrm>
            <a:off x="548640" y="82296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272"/>
              </a:buClr>
              <a:buSzPts val="1600"/>
              <a:buFont typeface="Calibri"/>
              <a:buNone/>
            </a:pPr>
            <a:r>
              <a:rPr b="0" i="0" lang="en-US" sz="1600" u="none" cap="none" strike="noStrike">
                <a:solidFill>
                  <a:srgbClr val="5A6272"/>
                </a:solidFill>
                <a:latin typeface="Calibri"/>
                <a:ea typeface="Calibri"/>
                <a:cs typeface="Calibri"/>
                <a:sym typeface="Calibri"/>
              </a:rPr>
              <a:t>Embedded Systems Team - 22</a:t>
            </a:r>
            <a:endParaRPr b="0" i="0" sz="1600" u="none" cap="none" strike="noStrike">
              <a:solidFill>
                <a:schemeClr val="dk1"/>
              </a:solidFill>
              <a:latin typeface="Calibri"/>
              <a:ea typeface="Calibri"/>
              <a:cs typeface="Calibri"/>
              <a:sym typeface="Calibri"/>
            </a:endParaRPr>
          </a:p>
        </p:txBody>
      </p:sp>
      <p:sp>
        <p:nvSpPr>
          <p:cNvPr id="23" name="Google Shape;23;p4"/>
          <p:cNvSpPr txBox="1"/>
          <p:nvPr/>
        </p:nvSpPr>
        <p:spPr>
          <a:xfrm>
            <a:off x="548640" y="1234440"/>
            <a:ext cx="80467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4400"/>
              <a:buFont typeface="Calibri"/>
              <a:buNone/>
            </a:pPr>
            <a:r>
              <a:rPr b="1" i="0" lang="en-US" sz="4400" u="none" cap="none" strike="noStrike">
                <a:solidFill>
                  <a:srgbClr val="1A1A2E"/>
                </a:solidFill>
                <a:latin typeface="Calibri"/>
                <a:ea typeface="Calibri"/>
                <a:cs typeface="Calibri"/>
                <a:sym typeface="Calibri"/>
              </a:rPr>
              <a:t>MULTI AGENT SMART BRICKS</a:t>
            </a:r>
            <a:endParaRPr b="0" i="0" sz="4400" u="none" cap="none" strike="noStrike">
              <a:solidFill>
                <a:schemeClr val="dk1"/>
              </a:solidFill>
              <a:latin typeface="Calibri"/>
              <a:ea typeface="Calibri"/>
              <a:cs typeface="Calibri"/>
              <a:sym typeface="Calibri"/>
            </a:endParaRPr>
          </a:p>
        </p:txBody>
      </p:sp>
      <p:sp>
        <p:nvSpPr>
          <p:cNvPr id="24" name="Google Shape;24;p4"/>
          <p:cNvSpPr txBox="1"/>
          <p:nvPr/>
        </p:nvSpPr>
        <p:spPr>
          <a:xfrm>
            <a:off x="548640" y="2103120"/>
            <a:ext cx="8046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7CF4"/>
              </a:buClr>
              <a:buSzPts val="2200"/>
              <a:buFont typeface="Calibri"/>
              <a:buNone/>
            </a:pPr>
            <a:r>
              <a:rPr b="0" i="0" lang="en-US" sz="2200" u="none" cap="none" strike="noStrike">
                <a:solidFill>
                  <a:srgbClr val="3B7CF4"/>
                </a:solidFill>
                <a:latin typeface="Calibri"/>
                <a:ea typeface="Calibri"/>
                <a:cs typeface="Calibri"/>
                <a:sym typeface="Calibri"/>
              </a:rPr>
              <a:t>Smart Surgery Tray</a:t>
            </a:r>
            <a:endParaRPr b="0" i="0" sz="2200" u="none" cap="none" strike="noStrike">
              <a:solidFill>
                <a:schemeClr val="dk1"/>
              </a:solidFill>
              <a:latin typeface="Calibri"/>
              <a:ea typeface="Calibri"/>
              <a:cs typeface="Calibri"/>
              <a:sym typeface="Calibri"/>
            </a:endParaRPr>
          </a:p>
        </p:txBody>
      </p:sp>
      <p:sp>
        <p:nvSpPr>
          <p:cNvPr id="25" name="Google Shape;25;p4"/>
          <p:cNvSpPr txBox="1"/>
          <p:nvPr/>
        </p:nvSpPr>
        <p:spPr>
          <a:xfrm>
            <a:off x="548640" y="3017520"/>
            <a:ext cx="8046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0" i="0" lang="en-US" sz="1600" u="none" cap="none" strike="noStrike">
                <a:solidFill>
                  <a:srgbClr val="1A1A2E"/>
                </a:solidFill>
                <a:latin typeface="Calibri"/>
                <a:ea typeface="Calibri"/>
                <a:cs typeface="Calibri"/>
                <a:sym typeface="Calibri"/>
              </a:rPr>
              <a:t>Mohammed Ibrahim Bin Faisal   |   Rushil Grover   |   Harry Aadith   |   Hershi Jaiswal</a:t>
            </a:r>
            <a:endParaRPr b="0" i="0" sz="1600" u="none" cap="none" strike="noStrike">
              <a:solidFill>
                <a:schemeClr val="dk1"/>
              </a:solidFill>
              <a:latin typeface="Calibri"/>
              <a:ea typeface="Calibri"/>
              <a:cs typeface="Calibri"/>
              <a:sym typeface="Calibri"/>
            </a:endParaRPr>
          </a:p>
        </p:txBody>
      </p:sp>
      <p:sp>
        <p:nvSpPr>
          <p:cNvPr id="26" name="Google Shape;26;p4"/>
          <p:cNvSpPr txBox="1"/>
          <p:nvPr/>
        </p:nvSpPr>
        <p:spPr>
          <a:xfrm>
            <a:off x="548640" y="3657600"/>
            <a:ext cx="8046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272"/>
              </a:buClr>
              <a:buSzPts val="1400"/>
              <a:buFont typeface="Calibri"/>
              <a:buNone/>
            </a:pPr>
            <a:r>
              <a:rPr b="1" i="0" lang="en-US" sz="1400" u="none" cap="none" strike="noStrike">
                <a:solidFill>
                  <a:srgbClr val="5A6272"/>
                </a:solidFill>
                <a:latin typeface="Calibri"/>
                <a:ea typeface="Calibri"/>
                <a:cs typeface="Calibri"/>
                <a:sym typeface="Calibri"/>
              </a:rPr>
              <a:t>Faculty and Mentors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Dr. Kavita Vemuri - Faculty Head   |   Ranapratap - Mentor   |   Adeeb - TA</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5"/>
          <p:cNvSpPr txBox="1"/>
          <p:nvPr>
            <p:ph type="title"/>
          </p:nvPr>
        </p:nvSpPr>
        <p:spPr>
          <a:xfrm>
            <a:off x="457200" y="384048"/>
            <a:ext cx="8229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lang="en-US"/>
              <a:t>Problem Statement</a:t>
            </a:r>
            <a:endParaRPr sz="3200"/>
          </a:p>
        </p:txBody>
      </p:sp>
      <p:sp>
        <p:nvSpPr>
          <p:cNvPr id="33" name="Google Shape;33;p5"/>
          <p:cNvSpPr/>
          <p:nvPr/>
        </p:nvSpPr>
        <p:spPr>
          <a:xfrm>
            <a:off x="457200" y="1280160"/>
            <a:ext cx="2560200" cy="2286000"/>
          </a:xfrm>
          <a:prstGeom prst="roundRect">
            <a:avLst>
              <a:gd fmla="val 3200"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txBox="1"/>
          <p:nvPr/>
        </p:nvSpPr>
        <p:spPr>
          <a:xfrm>
            <a:off x="594360" y="1371600"/>
            <a:ext cx="2286000" cy="2103000"/>
          </a:xfrm>
          <a:prstGeom prst="rect">
            <a:avLst/>
          </a:prstGeom>
          <a:noFill/>
          <a:ln>
            <a:noFill/>
          </a:ln>
        </p:spPr>
        <p:txBody>
          <a:bodyPr anchorCtr="0" anchor="t" bIns="0" lIns="0" spcFirstLastPara="1" rIns="0" wrap="square" tIns="0">
            <a:noAutofit/>
          </a:bodyPr>
          <a:lstStyle/>
          <a:p>
            <a:pPr indent="0" lvl="0" marL="0" rtl="0" algn="l">
              <a:spcBef>
                <a:spcPts val="400"/>
              </a:spcBef>
              <a:spcAft>
                <a:spcPts val="0"/>
              </a:spcAft>
              <a:buClr>
                <a:schemeClr val="dk1"/>
              </a:buClr>
              <a:buSzPts val="1100"/>
              <a:buFont typeface="Arial"/>
              <a:buNone/>
            </a:pPr>
            <a:r>
              <a:rPr lang="en-US">
                <a:solidFill>
                  <a:srgbClr val="1A1A2E"/>
                </a:solidFill>
                <a:latin typeface="Calibri"/>
                <a:ea typeface="Calibri"/>
                <a:cs typeface="Calibri"/>
                <a:sym typeface="Calibri"/>
              </a:rPr>
              <a:t>Design a set of electronic bricks that communicate with neighbouring bricks</a:t>
            </a:r>
            <a:endParaRPr>
              <a:solidFill>
                <a:srgbClr val="1A1A2E"/>
              </a:solidFill>
              <a:latin typeface="Calibri"/>
              <a:ea typeface="Calibri"/>
              <a:cs typeface="Calibri"/>
              <a:sym typeface="Calibri"/>
            </a:endParaRPr>
          </a:p>
          <a:p>
            <a:pPr indent="0" lvl="0" marL="0" rtl="0" algn="l">
              <a:spcBef>
                <a:spcPts val="400"/>
              </a:spcBef>
              <a:spcAft>
                <a:spcPts val="0"/>
              </a:spcAft>
              <a:buClr>
                <a:schemeClr val="dk1"/>
              </a:buClr>
              <a:buSzPts val="1100"/>
              <a:buFont typeface="Arial"/>
              <a:buNone/>
            </a:pPr>
            <a:r>
              <a:rPr lang="en-US">
                <a:solidFill>
                  <a:srgbClr val="1A1A2E"/>
                </a:solidFill>
                <a:latin typeface="Calibri"/>
                <a:ea typeface="Calibri"/>
                <a:cs typeface="Calibri"/>
                <a:sym typeface="Calibri"/>
              </a:rPr>
              <a:t>and change their behaviour depending on how they are assembled. The first</a:t>
            </a:r>
            <a:endParaRPr>
              <a:solidFill>
                <a:srgbClr val="1A1A2E"/>
              </a:solidFill>
              <a:latin typeface="Calibri"/>
              <a:ea typeface="Calibri"/>
              <a:cs typeface="Calibri"/>
              <a:sym typeface="Calibri"/>
            </a:endParaRPr>
          </a:p>
          <a:p>
            <a:pPr indent="0" lvl="0" marL="0" rtl="0" algn="l">
              <a:spcBef>
                <a:spcPts val="400"/>
              </a:spcBef>
              <a:spcAft>
                <a:spcPts val="0"/>
              </a:spcAft>
              <a:buClr>
                <a:schemeClr val="dk1"/>
              </a:buClr>
              <a:buSzPts val="1100"/>
              <a:buFont typeface="Arial"/>
              <a:buNone/>
            </a:pPr>
            <a:r>
              <a:rPr lang="en-US">
                <a:solidFill>
                  <a:srgbClr val="1A1A2E"/>
                </a:solidFill>
                <a:latin typeface="Calibri"/>
                <a:ea typeface="Calibri"/>
                <a:cs typeface="Calibri"/>
                <a:sym typeface="Calibri"/>
              </a:rPr>
              <a:t>step can be communicate to count presence within a range.</a:t>
            </a:r>
            <a:endParaRPr>
              <a:solidFill>
                <a:srgbClr val="1A1A2E"/>
              </a:solidFill>
              <a:latin typeface="Calibri"/>
              <a:ea typeface="Calibri"/>
              <a:cs typeface="Calibri"/>
              <a:sym typeface="Calibri"/>
            </a:endParaRPr>
          </a:p>
        </p:txBody>
      </p:sp>
      <p:sp>
        <p:nvSpPr>
          <p:cNvPr id="35" name="Google Shape;35;p5"/>
          <p:cNvSpPr/>
          <p:nvPr/>
        </p:nvSpPr>
        <p:spPr>
          <a:xfrm>
            <a:off x="3291840" y="1280160"/>
            <a:ext cx="2560200" cy="2286000"/>
          </a:xfrm>
          <a:prstGeom prst="roundRect">
            <a:avLst>
              <a:gd fmla="val 3200"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txBox="1"/>
          <p:nvPr/>
        </p:nvSpPr>
        <p:spPr>
          <a:xfrm>
            <a:off x="3429000" y="1371600"/>
            <a:ext cx="2286000" cy="2103000"/>
          </a:xfrm>
          <a:prstGeom prst="rect">
            <a:avLst/>
          </a:prstGeom>
          <a:noFill/>
          <a:ln>
            <a:noFill/>
          </a:ln>
        </p:spPr>
        <p:txBody>
          <a:bodyPr anchorCtr="0" anchor="t" bIns="0" lIns="0" spcFirstLastPara="1" rIns="0" wrap="square" tIns="0">
            <a:noAutofit/>
          </a:bodyPr>
          <a:lstStyle/>
          <a:p>
            <a:pPr indent="0" lvl="0" marL="0" rtl="0" algn="l">
              <a:spcBef>
                <a:spcPts val="400"/>
              </a:spcBef>
              <a:spcAft>
                <a:spcPts val="0"/>
              </a:spcAft>
              <a:buClr>
                <a:schemeClr val="dk1"/>
              </a:buClr>
              <a:buSzPts val="1100"/>
              <a:buFont typeface="Arial"/>
              <a:buNone/>
            </a:pPr>
            <a:r>
              <a:rPr lang="en-US">
                <a:solidFill>
                  <a:srgbClr val="1A1A2E"/>
                </a:solidFill>
                <a:latin typeface="Calibri"/>
                <a:ea typeface="Calibri"/>
                <a:cs typeface="Calibri"/>
                <a:sym typeface="Calibri"/>
              </a:rPr>
              <a:t>Each brick is an autonomous agent that:</a:t>
            </a:r>
            <a:endParaRPr>
              <a:solidFill>
                <a:srgbClr val="1A1A2E"/>
              </a:solidFill>
              <a:latin typeface="Calibri"/>
              <a:ea typeface="Calibri"/>
              <a:cs typeface="Calibri"/>
              <a:sym typeface="Calibri"/>
            </a:endParaRPr>
          </a:p>
          <a:p>
            <a:pPr indent="0" lvl="0" marL="0" rtl="0" algn="l">
              <a:spcBef>
                <a:spcPts val="400"/>
              </a:spcBef>
              <a:spcAft>
                <a:spcPts val="0"/>
              </a:spcAft>
              <a:buClr>
                <a:schemeClr val="dk1"/>
              </a:buClr>
              <a:buSzPts val="1100"/>
              <a:buFont typeface="Arial"/>
              <a:buNone/>
            </a:pPr>
            <a:r>
              <a:rPr lang="en-US">
                <a:solidFill>
                  <a:srgbClr val="1A1A2E"/>
                </a:solidFill>
                <a:latin typeface="Calibri"/>
                <a:ea typeface="Calibri"/>
                <a:cs typeface="Calibri"/>
                <a:sym typeface="Calibri"/>
              </a:rPr>
              <a:t>• Detects neighboring bricks</a:t>
            </a:r>
            <a:endParaRPr>
              <a:solidFill>
                <a:srgbClr val="1A1A2E"/>
              </a:solidFill>
              <a:latin typeface="Calibri"/>
              <a:ea typeface="Calibri"/>
              <a:cs typeface="Calibri"/>
              <a:sym typeface="Calibri"/>
            </a:endParaRPr>
          </a:p>
          <a:p>
            <a:pPr indent="0" lvl="0" marL="0" rtl="0" algn="l">
              <a:spcBef>
                <a:spcPts val="400"/>
              </a:spcBef>
              <a:spcAft>
                <a:spcPts val="0"/>
              </a:spcAft>
              <a:buClr>
                <a:schemeClr val="dk1"/>
              </a:buClr>
              <a:buSzPts val="1100"/>
              <a:buFont typeface="Arial"/>
              <a:buNone/>
            </a:pPr>
            <a:r>
              <a:rPr lang="en-US">
                <a:solidFill>
                  <a:srgbClr val="1A1A2E"/>
                </a:solidFill>
                <a:latin typeface="Calibri"/>
                <a:ea typeface="Calibri"/>
                <a:cs typeface="Calibri"/>
                <a:sym typeface="Calibri"/>
              </a:rPr>
              <a:t>• Exchanges information </a:t>
            </a:r>
            <a:endParaRPr>
              <a:solidFill>
                <a:srgbClr val="1A1A2E"/>
              </a:solidFill>
              <a:latin typeface="Calibri"/>
              <a:ea typeface="Calibri"/>
              <a:cs typeface="Calibri"/>
              <a:sym typeface="Calibri"/>
            </a:endParaRPr>
          </a:p>
          <a:p>
            <a:pPr indent="0" lvl="0" marL="0" rtl="0" algn="l">
              <a:spcBef>
                <a:spcPts val="400"/>
              </a:spcBef>
              <a:spcAft>
                <a:spcPts val="0"/>
              </a:spcAft>
              <a:buClr>
                <a:schemeClr val="dk1"/>
              </a:buClr>
              <a:buSzPts val="1100"/>
              <a:buFont typeface="Arial"/>
              <a:buNone/>
            </a:pPr>
            <a:r>
              <a:rPr lang="en-US">
                <a:solidFill>
                  <a:srgbClr val="1A1A2E"/>
                </a:solidFill>
                <a:latin typeface="Calibri"/>
                <a:ea typeface="Calibri"/>
                <a:cs typeface="Calibri"/>
                <a:sym typeface="Calibri"/>
              </a:rPr>
              <a:t>• Makes local decisions </a:t>
            </a:r>
            <a:endParaRPr>
              <a:solidFill>
                <a:srgbClr val="1A1A2E"/>
              </a:solidFill>
              <a:latin typeface="Calibri"/>
              <a:ea typeface="Calibri"/>
              <a:cs typeface="Calibri"/>
              <a:sym typeface="Calibri"/>
            </a:endParaRPr>
          </a:p>
          <a:p>
            <a:pPr indent="0" lvl="0" marL="0" rtl="0" algn="l">
              <a:spcBef>
                <a:spcPts val="400"/>
              </a:spcBef>
              <a:spcAft>
                <a:spcPts val="0"/>
              </a:spcAft>
              <a:buClr>
                <a:schemeClr val="dk1"/>
              </a:buClr>
              <a:buSzPts val="1100"/>
              <a:buFont typeface="Arial"/>
              <a:buNone/>
            </a:pPr>
            <a:r>
              <a:rPr lang="en-US">
                <a:solidFill>
                  <a:srgbClr val="1A1A2E"/>
                </a:solidFill>
                <a:latin typeface="Calibri"/>
                <a:ea typeface="Calibri"/>
                <a:cs typeface="Calibri"/>
                <a:sym typeface="Calibri"/>
              </a:rPr>
              <a:t>• Contributes to the overall system behavior</a:t>
            </a:r>
            <a:endParaRPr>
              <a:solidFill>
                <a:srgbClr val="1A1A2E"/>
              </a:solidFill>
              <a:latin typeface="Calibri"/>
              <a:ea typeface="Calibri"/>
              <a:cs typeface="Calibri"/>
              <a:sym typeface="Calibri"/>
            </a:endParaRPr>
          </a:p>
        </p:txBody>
      </p:sp>
      <p:sp>
        <p:nvSpPr>
          <p:cNvPr id="37" name="Google Shape;37;p5"/>
          <p:cNvSpPr/>
          <p:nvPr/>
        </p:nvSpPr>
        <p:spPr>
          <a:xfrm>
            <a:off x="6126480" y="1280160"/>
            <a:ext cx="2560200" cy="2286000"/>
          </a:xfrm>
          <a:prstGeom prst="roundRect">
            <a:avLst>
              <a:gd fmla="val 3200"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nvSpPr>
        <p:spPr>
          <a:xfrm>
            <a:off x="6263640" y="1371600"/>
            <a:ext cx="2286000" cy="210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Our Solution</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Autonomous ESP32 'Smart Bricks' forming a modular, self-organizing tray.</a:t>
            </a:r>
            <a:endParaRPr b="0" i="0" sz="1600" u="none" cap="none" strike="noStrike">
              <a:solidFill>
                <a:schemeClr val="dk1"/>
              </a:solidFill>
              <a:latin typeface="Calibri"/>
              <a:ea typeface="Calibri"/>
              <a:cs typeface="Calibri"/>
              <a:sym typeface="Calibri"/>
            </a:endParaRPr>
          </a:p>
        </p:txBody>
      </p:sp>
      <p:sp>
        <p:nvSpPr>
          <p:cNvPr id="39" name="Google Shape;39;p5"/>
          <p:cNvSpPr/>
          <p:nvPr/>
        </p:nvSpPr>
        <p:spPr>
          <a:xfrm>
            <a:off x="457200" y="3840480"/>
            <a:ext cx="8229600" cy="685800"/>
          </a:xfrm>
          <a:prstGeom prst="roundRect">
            <a:avLst>
              <a:gd fmla="val 10667" name="adj"/>
            </a:avLst>
          </a:prstGeom>
          <a:solidFill>
            <a:srgbClr val="3B7CF4"/>
          </a:solidFill>
          <a:ln cap="flat" cmpd="sng" w="12700">
            <a:solidFill>
              <a:srgbClr val="3B7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txBox="1"/>
          <p:nvPr/>
        </p:nvSpPr>
        <p:spPr>
          <a:xfrm>
            <a:off x="457200" y="3840480"/>
            <a:ext cx="8229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Expected outcome: real-time instrument accountability with minimal failure</a:t>
            </a:r>
            <a:endParaRPr b="0" i="0" sz="1800" u="none" cap="none" strike="noStrike">
              <a:solidFill>
                <a:schemeClr val="dk1"/>
              </a:solidFill>
              <a:latin typeface="Calibri"/>
              <a:ea typeface="Calibri"/>
              <a:cs typeface="Calibri"/>
              <a:sym typeface="Calibri"/>
            </a:endParaRPr>
          </a:p>
        </p:txBody>
      </p:sp>
      <p:sp>
        <p:nvSpPr>
          <p:cNvPr id="41" name="Google Shape;41;p5"/>
          <p:cNvSpPr txBox="1"/>
          <p:nvPr>
            <p:ph idx="4294967295" type="sldNum"/>
          </p:nvPr>
        </p:nvSpPr>
        <p:spPr>
          <a:xfrm>
            <a:off x="8229600" y="4754880"/>
            <a:ext cx="457200" cy="27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6"/>
          <p:cNvSpPr txBox="1"/>
          <p:nvPr>
            <p:ph type="title"/>
          </p:nvPr>
        </p:nvSpPr>
        <p:spPr>
          <a:xfrm>
            <a:off x="457200" y="384048"/>
            <a:ext cx="822960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lang="en-US"/>
              <a:t>Motivation</a:t>
            </a:r>
            <a:endParaRPr sz="3200"/>
          </a:p>
        </p:txBody>
      </p:sp>
      <p:sp>
        <p:nvSpPr>
          <p:cNvPr id="48" name="Google Shape;48;p6"/>
          <p:cNvSpPr/>
          <p:nvPr/>
        </p:nvSpPr>
        <p:spPr>
          <a:xfrm>
            <a:off x="457200" y="1280160"/>
            <a:ext cx="2560320" cy="2286000"/>
          </a:xfrm>
          <a:prstGeom prst="roundRect">
            <a:avLst>
              <a:gd fmla="val 3200"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txBox="1"/>
          <p:nvPr/>
        </p:nvSpPr>
        <p:spPr>
          <a:xfrm>
            <a:off x="594360" y="1371600"/>
            <a:ext cx="228600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Clinical Hazard</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Retained surgical instruments pose severe risks to patient safety.</a:t>
            </a:r>
            <a:endParaRPr b="0" i="0" sz="1600" u="none" cap="none" strike="noStrike">
              <a:solidFill>
                <a:schemeClr val="dk1"/>
              </a:solidFill>
              <a:latin typeface="Calibri"/>
              <a:ea typeface="Calibri"/>
              <a:cs typeface="Calibri"/>
              <a:sym typeface="Calibri"/>
            </a:endParaRPr>
          </a:p>
        </p:txBody>
      </p:sp>
      <p:sp>
        <p:nvSpPr>
          <p:cNvPr id="50" name="Google Shape;50;p6"/>
          <p:cNvSpPr/>
          <p:nvPr/>
        </p:nvSpPr>
        <p:spPr>
          <a:xfrm>
            <a:off x="3291840" y="1280160"/>
            <a:ext cx="2560320" cy="2286000"/>
          </a:xfrm>
          <a:prstGeom prst="roundRect">
            <a:avLst>
              <a:gd fmla="val 3200"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txBox="1"/>
          <p:nvPr/>
        </p:nvSpPr>
        <p:spPr>
          <a:xfrm>
            <a:off x="3429000" y="1371600"/>
            <a:ext cx="228600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Manual Error</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Counting relies on manual human checks under high stress and fatigue.</a:t>
            </a:r>
            <a:endParaRPr b="0" i="0" sz="1600" u="none" cap="none" strike="noStrike">
              <a:solidFill>
                <a:schemeClr val="dk1"/>
              </a:solidFill>
              <a:latin typeface="Calibri"/>
              <a:ea typeface="Calibri"/>
              <a:cs typeface="Calibri"/>
              <a:sym typeface="Calibri"/>
            </a:endParaRPr>
          </a:p>
        </p:txBody>
      </p:sp>
      <p:sp>
        <p:nvSpPr>
          <p:cNvPr id="52" name="Google Shape;52;p6"/>
          <p:cNvSpPr/>
          <p:nvPr/>
        </p:nvSpPr>
        <p:spPr>
          <a:xfrm>
            <a:off x="6126480" y="1280160"/>
            <a:ext cx="2560320" cy="2286000"/>
          </a:xfrm>
          <a:prstGeom prst="roundRect">
            <a:avLst>
              <a:gd fmla="val 3200"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txBox="1"/>
          <p:nvPr/>
        </p:nvSpPr>
        <p:spPr>
          <a:xfrm>
            <a:off x="6263640" y="1371600"/>
            <a:ext cx="228600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Our Solution</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Autonomous ESP32 'Smart Bricks' forming a modular, self-organizing tray.</a:t>
            </a:r>
            <a:endParaRPr b="0" i="0" sz="1600" u="none" cap="none" strike="noStrike">
              <a:solidFill>
                <a:schemeClr val="dk1"/>
              </a:solidFill>
              <a:latin typeface="Calibri"/>
              <a:ea typeface="Calibri"/>
              <a:cs typeface="Calibri"/>
              <a:sym typeface="Calibri"/>
            </a:endParaRPr>
          </a:p>
        </p:txBody>
      </p:sp>
      <p:sp>
        <p:nvSpPr>
          <p:cNvPr id="54" name="Google Shape;54;p6"/>
          <p:cNvSpPr/>
          <p:nvPr/>
        </p:nvSpPr>
        <p:spPr>
          <a:xfrm>
            <a:off x="457200" y="3840480"/>
            <a:ext cx="8229600" cy="685800"/>
          </a:xfrm>
          <a:prstGeom prst="roundRect">
            <a:avLst>
              <a:gd fmla="val 10667" name="adj"/>
            </a:avLst>
          </a:prstGeom>
          <a:solidFill>
            <a:srgbClr val="3B7CF4"/>
          </a:solidFill>
          <a:ln cap="flat" cmpd="sng" w="12700">
            <a:solidFill>
              <a:srgbClr val="3B7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txBox="1"/>
          <p:nvPr/>
        </p:nvSpPr>
        <p:spPr>
          <a:xfrm>
            <a:off x="457200" y="3840480"/>
            <a:ext cx="8229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Expected outcome: real-time instrument accountability with minimal failure</a:t>
            </a:r>
            <a:endParaRPr b="0" i="0" sz="1800" u="none" cap="none" strike="noStrike">
              <a:solidFill>
                <a:schemeClr val="dk1"/>
              </a:solidFill>
              <a:latin typeface="Calibri"/>
              <a:ea typeface="Calibri"/>
              <a:cs typeface="Calibri"/>
              <a:sym typeface="Calibri"/>
            </a:endParaRPr>
          </a:p>
        </p:txBody>
      </p:sp>
      <p:sp>
        <p:nvSpPr>
          <p:cNvPr id="56" name="Google Shape;56;p6"/>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7"/>
          <p:cNvSpPr txBox="1"/>
          <p:nvPr>
            <p:ph type="title"/>
          </p:nvPr>
        </p:nvSpPr>
        <p:spPr>
          <a:xfrm>
            <a:off x="457200" y="384048"/>
            <a:ext cx="822960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b="1" lang="en-US" sz="3200">
                <a:solidFill>
                  <a:srgbClr val="1A1A2E"/>
                </a:solidFill>
                <a:latin typeface="Calibri"/>
                <a:ea typeface="Calibri"/>
                <a:cs typeface="Calibri"/>
                <a:sym typeface="Calibri"/>
              </a:rPr>
              <a:t>Motivation</a:t>
            </a:r>
            <a:endParaRPr sz="3200"/>
          </a:p>
        </p:txBody>
      </p:sp>
      <p:sp>
        <p:nvSpPr>
          <p:cNvPr id="63" name="Google Shape;63;p7"/>
          <p:cNvSpPr/>
          <p:nvPr/>
        </p:nvSpPr>
        <p:spPr>
          <a:xfrm>
            <a:off x="457200" y="1280160"/>
            <a:ext cx="3977640" cy="3200400"/>
          </a:xfrm>
          <a:prstGeom prst="roundRect">
            <a:avLst>
              <a:gd fmla="val 2286"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txBox="1"/>
          <p:nvPr/>
        </p:nvSpPr>
        <p:spPr>
          <a:xfrm>
            <a:off x="594360" y="1371600"/>
            <a:ext cx="370332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Existing Work and Gaps</a:t>
            </a:r>
            <a:endParaRPr b="0" i="0" sz="1600" u="none" cap="none" strike="noStrike">
              <a:solidFill>
                <a:schemeClr val="dk1"/>
              </a:solidFill>
              <a:latin typeface="Calibri"/>
              <a:ea typeface="Calibri"/>
              <a:cs typeface="Calibri"/>
              <a:sym typeface="Calibri"/>
            </a:endParaRPr>
          </a:p>
        </p:txBody>
      </p:sp>
      <p:sp>
        <p:nvSpPr>
          <p:cNvPr id="65" name="Google Shape;65;p7"/>
          <p:cNvSpPr txBox="1"/>
          <p:nvPr/>
        </p:nvSpPr>
        <p:spPr>
          <a:xfrm>
            <a:off x="594360" y="1783080"/>
            <a:ext cx="3703320" cy="25603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2E"/>
              </a:buClr>
              <a:buSzPts val="1400"/>
              <a:buFont typeface="Calibri"/>
              <a:buChar char="•"/>
            </a:pPr>
            <a:r>
              <a:rPr b="0" i="0" lang="en-US" sz="1400" u="none" cap="none" strike="noStrike">
                <a:solidFill>
                  <a:srgbClr val="1A1A2E"/>
                </a:solidFill>
                <a:latin typeface="Calibri"/>
                <a:ea typeface="Calibri"/>
                <a:cs typeface="Calibri"/>
                <a:sym typeface="Calibri"/>
              </a:rPr>
              <a:t>Smart ORs explore RFID tool cabinets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400"/>
              <a:buFont typeface="Calibri"/>
              <a:buChar char="•"/>
            </a:pPr>
            <a:r>
              <a:rPr b="0" i="0" lang="en-US" sz="1400" u="none" cap="none" strike="noStrike">
                <a:solidFill>
                  <a:srgbClr val="1A1A2E"/>
                </a:solidFill>
                <a:latin typeface="Calibri"/>
                <a:ea typeface="Calibri"/>
                <a:cs typeface="Calibri"/>
                <a:sym typeface="Calibri"/>
              </a:rPr>
              <a:t>Bulky sensors on tools hurt surgeon ergonomics and sterilization</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400"/>
              <a:buFont typeface="Calibri"/>
              <a:buChar char="•"/>
            </a:pPr>
            <a:r>
              <a:rPr b="0" i="0" lang="en-US" sz="1400" u="none" cap="none" strike="noStrike">
                <a:solidFill>
                  <a:srgbClr val="1A1A2E"/>
                </a:solidFill>
                <a:latin typeface="Calibri"/>
                <a:ea typeface="Calibri"/>
                <a:cs typeface="Calibri"/>
                <a:sym typeface="Calibri"/>
              </a:rPr>
              <a:t>Nurses and technicians do manual verbal / whiteboard counts before, during and after long, high-stress surgeries</a:t>
            </a:r>
            <a:endParaRPr b="0" i="0" sz="1400" u="none" cap="none" strike="noStrike">
              <a:solidFill>
                <a:schemeClr val="dk1"/>
              </a:solidFill>
              <a:latin typeface="Calibri"/>
              <a:ea typeface="Calibri"/>
              <a:cs typeface="Calibri"/>
              <a:sym typeface="Calibri"/>
            </a:endParaRPr>
          </a:p>
        </p:txBody>
      </p:sp>
      <p:sp>
        <p:nvSpPr>
          <p:cNvPr id="66" name="Google Shape;66;p7"/>
          <p:cNvSpPr/>
          <p:nvPr/>
        </p:nvSpPr>
        <p:spPr>
          <a:xfrm>
            <a:off x="4709160" y="1280160"/>
            <a:ext cx="3977640" cy="3200400"/>
          </a:xfrm>
          <a:prstGeom prst="roundRect">
            <a:avLst>
              <a:gd fmla="val 2286"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txBox="1"/>
          <p:nvPr/>
        </p:nvSpPr>
        <p:spPr>
          <a:xfrm>
            <a:off x="4846320" y="1371600"/>
            <a:ext cx="370332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Why Modular Bricks?</a:t>
            </a:r>
            <a:endParaRPr b="0" i="0" sz="1600" u="none" cap="none" strike="noStrike">
              <a:solidFill>
                <a:schemeClr val="dk1"/>
              </a:solidFill>
              <a:latin typeface="Calibri"/>
              <a:ea typeface="Calibri"/>
              <a:cs typeface="Calibri"/>
              <a:sym typeface="Calibri"/>
            </a:endParaRPr>
          </a:p>
        </p:txBody>
      </p:sp>
      <p:sp>
        <p:nvSpPr>
          <p:cNvPr id="68" name="Google Shape;68;p7"/>
          <p:cNvSpPr txBox="1"/>
          <p:nvPr/>
        </p:nvSpPr>
        <p:spPr>
          <a:xfrm>
            <a:off x="4846320" y="1783080"/>
            <a:ext cx="3703320" cy="25603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2E"/>
              </a:buClr>
              <a:buSzPts val="1400"/>
              <a:buFont typeface="Calibri"/>
              <a:buChar char="•"/>
            </a:pPr>
            <a:r>
              <a:rPr b="0" i="0" lang="en-US" sz="1400" u="none" cap="none" strike="noStrike">
                <a:solidFill>
                  <a:srgbClr val="1A1A2E"/>
                </a:solidFill>
                <a:latin typeface="Calibri"/>
                <a:ea typeface="Calibri"/>
                <a:cs typeface="Calibri"/>
                <a:sym typeface="Calibri"/>
              </a:rPr>
              <a:t>Distributed peer-to-peer compute: no single point of failure</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400"/>
              <a:buFont typeface="Calibri"/>
              <a:buChar char="•"/>
            </a:pPr>
            <a:r>
              <a:rPr b="0" i="0" lang="en-US" sz="1400" u="none" cap="none" strike="noStrike">
                <a:solidFill>
                  <a:srgbClr val="1A1A2E"/>
                </a:solidFill>
                <a:latin typeface="Calibri"/>
                <a:ea typeface="Calibri"/>
                <a:cs typeface="Calibri"/>
                <a:sym typeface="Calibri"/>
              </a:rPr>
              <a:t>Passive RFID tags: </a:t>
            </a:r>
            <a:r>
              <a:rPr lang="en-US">
                <a:solidFill>
                  <a:srgbClr val="1A1A2E"/>
                </a:solidFill>
                <a:latin typeface="Calibri"/>
                <a:ea typeface="Calibri"/>
                <a:cs typeface="Calibri"/>
                <a:sym typeface="Calibri"/>
              </a:rPr>
              <a:t>no battery-powered electronics on instruments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400"/>
              <a:buFont typeface="Calibri"/>
              <a:buChar char="•"/>
            </a:pPr>
            <a:r>
              <a:rPr b="0" i="0" lang="en-US" sz="1400" u="none" cap="none" strike="noStrike">
                <a:solidFill>
                  <a:srgbClr val="1A1A2E"/>
                </a:solidFill>
                <a:latin typeface="Calibri"/>
                <a:ea typeface="Calibri"/>
                <a:cs typeface="Calibri"/>
                <a:sym typeface="Calibri"/>
              </a:rPr>
              <a:t>Tray shape adapts to the procedure by re-arranging bricks</a:t>
            </a:r>
            <a:endParaRPr b="0" i="0" sz="1400" u="none" cap="none" strike="noStrike">
              <a:solidFill>
                <a:schemeClr val="dk1"/>
              </a:solidFill>
              <a:latin typeface="Calibri"/>
              <a:ea typeface="Calibri"/>
              <a:cs typeface="Calibri"/>
              <a:sym typeface="Calibri"/>
            </a:endParaRPr>
          </a:p>
        </p:txBody>
      </p:sp>
      <p:sp>
        <p:nvSpPr>
          <p:cNvPr id="69" name="Google Shape;69;p7"/>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8"/>
          <p:cNvSpPr txBox="1"/>
          <p:nvPr>
            <p:ph type="title"/>
          </p:nvPr>
        </p:nvSpPr>
        <p:spPr>
          <a:xfrm>
            <a:off x="457200" y="384048"/>
            <a:ext cx="822960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lang="en-US"/>
              <a:t>Our </a:t>
            </a:r>
            <a:r>
              <a:rPr b="1" lang="en-US" sz="3200">
                <a:solidFill>
                  <a:srgbClr val="1A1A2E"/>
                </a:solidFill>
                <a:latin typeface="Calibri"/>
                <a:ea typeface="Calibri"/>
                <a:cs typeface="Calibri"/>
                <a:sym typeface="Calibri"/>
              </a:rPr>
              <a:t>Proposed Solution</a:t>
            </a:r>
            <a:endParaRPr sz="3200"/>
          </a:p>
        </p:txBody>
      </p:sp>
      <p:sp>
        <p:nvSpPr>
          <p:cNvPr id="76" name="Google Shape;76;p8"/>
          <p:cNvSpPr txBox="1"/>
          <p:nvPr/>
        </p:nvSpPr>
        <p:spPr>
          <a:xfrm>
            <a:off x="457200" y="123444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Centralized Wi-Fi</a:t>
            </a:r>
            <a:endParaRPr b="0" i="0" sz="1400" u="none" cap="none" strike="noStrike">
              <a:solidFill>
                <a:schemeClr val="dk1"/>
              </a:solidFill>
              <a:latin typeface="Calibri"/>
              <a:ea typeface="Calibri"/>
              <a:cs typeface="Calibri"/>
              <a:sym typeface="Calibri"/>
            </a:endParaRPr>
          </a:p>
        </p:txBody>
      </p:sp>
      <p:sp>
        <p:nvSpPr>
          <p:cNvPr id="77" name="Google Shape;77;p8"/>
          <p:cNvSpPr txBox="1"/>
          <p:nvPr/>
        </p:nvSpPr>
        <p:spPr>
          <a:xfrm>
            <a:off x="3474720" y="1234440"/>
            <a:ext cx="4572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7CF4"/>
              </a:buClr>
              <a:buSzPts val="1800"/>
              <a:buFont typeface="Calibri"/>
              <a:buNone/>
            </a:pPr>
            <a:r>
              <a:rPr b="1" i="0" lang="en-US" sz="1800" u="none" cap="none" strike="noStrike">
                <a:solidFill>
                  <a:srgbClr val="3B7CF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78" name="Google Shape;78;p8"/>
          <p:cNvSpPr txBox="1"/>
          <p:nvPr/>
        </p:nvSpPr>
        <p:spPr>
          <a:xfrm>
            <a:off x="3931920" y="1234440"/>
            <a:ext cx="4754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Calibri"/>
              <a:buNone/>
            </a:pPr>
            <a:r>
              <a:rPr b="1" i="0" lang="en-US" sz="1400" u="none" cap="none" strike="noStrike">
                <a:solidFill>
                  <a:srgbClr val="1A1A2E"/>
                </a:solidFill>
                <a:latin typeface="Calibri"/>
                <a:ea typeface="Calibri"/>
                <a:cs typeface="Calibri"/>
                <a:sym typeface="Calibri"/>
              </a:rPr>
              <a:t>Direct low-latency </a:t>
            </a:r>
            <a:r>
              <a:rPr b="1" lang="en-US">
                <a:solidFill>
                  <a:srgbClr val="1A1A2E"/>
                </a:solidFill>
                <a:latin typeface="Calibri"/>
                <a:ea typeface="Calibri"/>
                <a:cs typeface="Calibri"/>
                <a:sym typeface="Calibri"/>
              </a:rPr>
              <a:t>ESP-NOW peer-to-peer communication</a:t>
            </a:r>
            <a:endParaRPr b="0" i="0" sz="1400" u="none" cap="none" strike="noStrike">
              <a:solidFill>
                <a:schemeClr val="dk1"/>
              </a:solidFill>
              <a:latin typeface="Calibri"/>
              <a:ea typeface="Calibri"/>
              <a:cs typeface="Calibri"/>
              <a:sym typeface="Calibri"/>
            </a:endParaRPr>
          </a:p>
        </p:txBody>
      </p:sp>
      <p:sp>
        <p:nvSpPr>
          <p:cNvPr id="79" name="Google Shape;79;p8"/>
          <p:cNvSpPr txBox="1"/>
          <p:nvPr/>
        </p:nvSpPr>
        <p:spPr>
          <a:xfrm>
            <a:off x="457200" y="173736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Active tool electronics</a:t>
            </a:r>
            <a:endParaRPr b="0" i="0" sz="1400" u="none" cap="none" strike="noStrike">
              <a:solidFill>
                <a:schemeClr val="dk1"/>
              </a:solidFill>
              <a:latin typeface="Calibri"/>
              <a:ea typeface="Calibri"/>
              <a:cs typeface="Calibri"/>
              <a:sym typeface="Calibri"/>
            </a:endParaRPr>
          </a:p>
        </p:txBody>
      </p:sp>
      <p:sp>
        <p:nvSpPr>
          <p:cNvPr id="80" name="Google Shape;80;p8"/>
          <p:cNvSpPr txBox="1"/>
          <p:nvPr/>
        </p:nvSpPr>
        <p:spPr>
          <a:xfrm>
            <a:off x="3474720" y="1737360"/>
            <a:ext cx="4572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7CF4"/>
              </a:buClr>
              <a:buSzPts val="1800"/>
              <a:buFont typeface="Calibri"/>
              <a:buNone/>
            </a:pPr>
            <a:r>
              <a:rPr b="1" i="0" lang="en-US" sz="1800" u="none" cap="none" strike="noStrike">
                <a:solidFill>
                  <a:srgbClr val="3B7CF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81" name="Google Shape;81;p8"/>
          <p:cNvSpPr txBox="1"/>
          <p:nvPr/>
        </p:nvSpPr>
        <p:spPr>
          <a:xfrm>
            <a:off x="3931920" y="1737360"/>
            <a:ext cx="4754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Calibri"/>
              <a:buNone/>
            </a:pPr>
            <a:r>
              <a:rPr b="1" i="0" lang="en-US" sz="1400" u="none" cap="none" strike="noStrike">
                <a:solidFill>
                  <a:srgbClr val="1A1A2E"/>
                </a:solidFill>
                <a:latin typeface="Calibri"/>
                <a:ea typeface="Calibri"/>
                <a:cs typeface="Calibri"/>
                <a:sym typeface="Calibri"/>
              </a:rPr>
              <a:t>Passive RFID tags seated in custom brick indents</a:t>
            </a:r>
            <a:endParaRPr b="0" i="0" sz="1400" u="none" cap="none" strike="noStrike">
              <a:solidFill>
                <a:schemeClr val="dk1"/>
              </a:solidFill>
              <a:latin typeface="Calibri"/>
              <a:ea typeface="Calibri"/>
              <a:cs typeface="Calibri"/>
              <a:sym typeface="Calibri"/>
            </a:endParaRPr>
          </a:p>
        </p:txBody>
      </p:sp>
      <p:sp>
        <p:nvSpPr>
          <p:cNvPr id="82" name="Google Shape;82;p8"/>
          <p:cNvSpPr txBox="1"/>
          <p:nvPr/>
        </p:nvSpPr>
        <p:spPr>
          <a:xfrm>
            <a:off x="457200" y="224028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Magnetic compass heading</a:t>
            </a:r>
            <a:endParaRPr b="0" i="0" sz="1400" u="none" cap="none" strike="noStrike">
              <a:solidFill>
                <a:schemeClr val="dk1"/>
              </a:solidFill>
              <a:latin typeface="Calibri"/>
              <a:ea typeface="Calibri"/>
              <a:cs typeface="Calibri"/>
              <a:sym typeface="Calibri"/>
            </a:endParaRPr>
          </a:p>
        </p:txBody>
      </p:sp>
      <p:sp>
        <p:nvSpPr>
          <p:cNvPr id="83" name="Google Shape;83;p8"/>
          <p:cNvSpPr txBox="1"/>
          <p:nvPr/>
        </p:nvSpPr>
        <p:spPr>
          <a:xfrm>
            <a:off x="3474720" y="2240280"/>
            <a:ext cx="4572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7CF4"/>
              </a:buClr>
              <a:buSzPts val="1800"/>
              <a:buFont typeface="Calibri"/>
              <a:buNone/>
            </a:pPr>
            <a:r>
              <a:rPr b="1" i="0" lang="en-US" sz="1800" u="none" cap="none" strike="noStrike">
                <a:solidFill>
                  <a:srgbClr val="3B7CF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84" name="Google Shape;84;p8"/>
          <p:cNvSpPr txBox="1"/>
          <p:nvPr/>
        </p:nvSpPr>
        <p:spPr>
          <a:xfrm>
            <a:off x="3931920" y="2240280"/>
            <a:ext cx="4754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Calibri"/>
              <a:buNone/>
            </a:pPr>
            <a:r>
              <a:rPr b="1" i="0" lang="en-US" sz="1400" u="none" cap="none" strike="noStrike">
                <a:solidFill>
                  <a:srgbClr val="1A1A2E"/>
                </a:solidFill>
                <a:latin typeface="Calibri"/>
                <a:ea typeface="Calibri"/>
                <a:cs typeface="Calibri"/>
                <a:sym typeface="Calibri"/>
              </a:rPr>
              <a:t>Aligned-start gyro yaw; no magnetic reference</a:t>
            </a:r>
            <a:r>
              <a:rPr b="1" lang="en-US">
                <a:solidFill>
                  <a:srgbClr val="1A1A2E"/>
                </a:solidFill>
                <a:latin typeface="Calibri"/>
                <a:ea typeface="Calibri"/>
                <a:cs typeface="Calibri"/>
                <a:sym typeface="Calibri"/>
              </a:rPr>
              <a:t> used</a:t>
            </a:r>
            <a:endParaRPr b="0" i="0" sz="1400" u="none" cap="none" strike="noStrike">
              <a:solidFill>
                <a:schemeClr val="dk1"/>
              </a:solidFill>
              <a:latin typeface="Calibri"/>
              <a:ea typeface="Calibri"/>
              <a:cs typeface="Calibri"/>
              <a:sym typeface="Calibri"/>
            </a:endParaRPr>
          </a:p>
        </p:txBody>
      </p:sp>
      <p:sp>
        <p:nvSpPr>
          <p:cNvPr id="85" name="Google Shape;85;p8"/>
          <p:cNvSpPr/>
          <p:nvPr/>
        </p:nvSpPr>
        <p:spPr>
          <a:xfrm>
            <a:off x="457200" y="3017520"/>
            <a:ext cx="1828800" cy="1463040"/>
          </a:xfrm>
          <a:prstGeom prst="roundRect">
            <a:avLst>
              <a:gd fmla="val 5000"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txBox="1"/>
          <p:nvPr/>
        </p:nvSpPr>
        <p:spPr>
          <a:xfrm>
            <a:off x="594360" y="3108960"/>
            <a:ext cx="155448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Face Detection</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IR sensors on all four sides</a:t>
            </a:r>
            <a:endParaRPr b="0" i="0" sz="1600" u="none" cap="none" strike="noStrike">
              <a:solidFill>
                <a:schemeClr val="dk1"/>
              </a:solidFill>
              <a:latin typeface="Calibri"/>
              <a:ea typeface="Calibri"/>
              <a:cs typeface="Calibri"/>
              <a:sym typeface="Calibri"/>
            </a:endParaRPr>
          </a:p>
        </p:txBody>
      </p:sp>
      <p:sp>
        <p:nvSpPr>
          <p:cNvPr id="87" name="Google Shape;87;p8"/>
          <p:cNvSpPr/>
          <p:nvPr/>
        </p:nvSpPr>
        <p:spPr>
          <a:xfrm>
            <a:off x="2590800" y="3017520"/>
            <a:ext cx="1828800" cy="1463040"/>
          </a:xfrm>
          <a:prstGeom prst="roundRect">
            <a:avLst>
              <a:gd fmla="val 5000"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txBox="1"/>
          <p:nvPr/>
        </p:nvSpPr>
        <p:spPr>
          <a:xfrm>
            <a:off x="2727960" y="3108960"/>
            <a:ext cx="155448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2D Layout Solver</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Grid rebuilt automatically</a:t>
            </a:r>
            <a:endParaRPr b="0" i="0" sz="1600" u="none" cap="none" strike="noStrike">
              <a:solidFill>
                <a:schemeClr val="dk1"/>
              </a:solidFill>
              <a:latin typeface="Calibri"/>
              <a:ea typeface="Calibri"/>
              <a:cs typeface="Calibri"/>
              <a:sym typeface="Calibri"/>
            </a:endParaRPr>
          </a:p>
        </p:txBody>
      </p:sp>
      <p:sp>
        <p:nvSpPr>
          <p:cNvPr id="89" name="Google Shape;89;p8"/>
          <p:cNvSpPr/>
          <p:nvPr/>
        </p:nvSpPr>
        <p:spPr>
          <a:xfrm>
            <a:off x="4724400" y="3017520"/>
            <a:ext cx="1828800" cy="1463040"/>
          </a:xfrm>
          <a:prstGeom prst="roundRect">
            <a:avLst>
              <a:gd fmla="val 5000"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txBox="1"/>
          <p:nvPr/>
        </p:nvSpPr>
        <p:spPr>
          <a:xfrm>
            <a:off x="4861560" y="3108960"/>
            <a:ext cx="155448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Live Dashboard</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Wi-Fi page, no router</a:t>
            </a:r>
            <a:endParaRPr b="0" i="0" sz="1600" u="none" cap="none" strike="noStrike">
              <a:solidFill>
                <a:schemeClr val="dk1"/>
              </a:solidFill>
              <a:latin typeface="Calibri"/>
              <a:ea typeface="Calibri"/>
              <a:cs typeface="Calibri"/>
              <a:sym typeface="Calibri"/>
            </a:endParaRPr>
          </a:p>
        </p:txBody>
      </p:sp>
      <p:sp>
        <p:nvSpPr>
          <p:cNvPr id="91" name="Google Shape;91;p8"/>
          <p:cNvSpPr/>
          <p:nvPr/>
        </p:nvSpPr>
        <p:spPr>
          <a:xfrm>
            <a:off x="6858000" y="3017520"/>
            <a:ext cx="1828800" cy="1463040"/>
          </a:xfrm>
          <a:prstGeom prst="roundRect">
            <a:avLst>
              <a:gd fmla="val 5000"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txBox="1"/>
          <p:nvPr/>
        </p:nvSpPr>
        <p:spPr>
          <a:xfrm>
            <a:off x="6995160" y="3108960"/>
            <a:ext cx="155448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Feedback</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RGB LED, buzzer, haptics</a:t>
            </a:r>
            <a:endParaRPr b="0" i="0" sz="1600" u="none" cap="none" strike="noStrike">
              <a:solidFill>
                <a:schemeClr val="dk1"/>
              </a:solidFill>
              <a:latin typeface="Calibri"/>
              <a:ea typeface="Calibri"/>
              <a:cs typeface="Calibri"/>
              <a:sym typeface="Calibri"/>
            </a:endParaRPr>
          </a:p>
        </p:txBody>
      </p:sp>
      <p:sp>
        <p:nvSpPr>
          <p:cNvPr id="93" name="Google Shape;93;p8"/>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9"/>
          <p:cNvSpPr txBox="1"/>
          <p:nvPr>
            <p:ph type="title"/>
          </p:nvPr>
        </p:nvSpPr>
        <p:spPr>
          <a:xfrm>
            <a:off x="457200" y="384048"/>
            <a:ext cx="822960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b="1" lang="en-US" sz="3200">
                <a:solidFill>
                  <a:srgbClr val="1A1A2E"/>
                </a:solidFill>
                <a:latin typeface="Calibri"/>
                <a:ea typeface="Calibri"/>
                <a:cs typeface="Calibri"/>
                <a:sym typeface="Calibri"/>
              </a:rPr>
              <a:t>System Architecture</a:t>
            </a:r>
            <a:endParaRPr sz="3200"/>
          </a:p>
        </p:txBody>
      </p:sp>
      <p:sp>
        <p:nvSpPr>
          <p:cNvPr id="100" name="Google Shape;100;p9"/>
          <p:cNvSpPr/>
          <p:nvPr/>
        </p:nvSpPr>
        <p:spPr>
          <a:xfrm>
            <a:off x="457200" y="1371600"/>
            <a:ext cx="1783080" cy="1920240"/>
          </a:xfrm>
          <a:prstGeom prst="roundRect">
            <a:avLst>
              <a:gd fmla="val 4103"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txBox="1"/>
          <p:nvPr/>
        </p:nvSpPr>
        <p:spPr>
          <a:xfrm>
            <a:off x="594360" y="1463040"/>
            <a:ext cx="150876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Smart Bricks</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ESP32 + RFID, 4 IR, IMU. Identical firmware</a:t>
            </a:r>
            <a:endParaRPr b="0" i="0" sz="1600" u="none" cap="none" strike="noStrike">
              <a:solidFill>
                <a:schemeClr val="dk1"/>
              </a:solidFill>
              <a:latin typeface="Calibri"/>
              <a:ea typeface="Calibri"/>
              <a:cs typeface="Calibri"/>
              <a:sym typeface="Calibri"/>
            </a:endParaRPr>
          </a:p>
        </p:txBody>
      </p:sp>
      <p:sp>
        <p:nvSpPr>
          <p:cNvPr id="102" name="Google Shape;102;p9"/>
          <p:cNvSpPr txBox="1"/>
          <p:nvPr/>
        </p:nvSpPr>
        <p:spPr>
          <a:xfrm>
            <a:off x="2240280" y="2011680"/>
            <a:ext cx="3657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7CF4"/>
              </a:buClr>
              <a:buSzPts val="2200"/>
              <a:buFont typeface="Calibri"/>
              <a:buNone/>
            </a:pPr>
            <a:r>
              <a:rPr b="1" i="0" lang="en-US" sz="2200" u="none" cap="none" strike="noStrike">
                <a:solidFill>
                  <a:srgbClr val="3B7CF4"/>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03" name="Google Shape;103;p9"/>
          <p:cNvSpPr/>
          <p:nvPr/>
        </p:nvSpPr>
        <p:spPr>
          <a:xfrm>
            <a:off x="2606040" y="1371600"/>
            <a:ext cx="1783080" cy="1920240"/>
          </a:xfrm>
          <a:prstGeom prst="roundRect">
            <a:avLst>
              <a:gd fmla="val 4103"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txBox="1"/>
          <p:nvPr/>
        </p:nvSpPr>
        <p:spPr>
          <a:xfrm>
            <a:off x="2743200" y="1463040"/>
            <a:ext cx="150876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ESP-NOW </a:t>
            </a:r>
            <a:r>
              <a:rPr b="1" lang="en-US" sz="1600">
                <a:solidFill>
                  <a:srgbClr val="1A1A2E"/>
                </a:solidFill>
                <a:latin typeface="Calibri"/>
                <a:ea typeface="Calibri"/>
                <a:cs typeface="Calibri"/>
                <a:sym typeface="Calibri"/>
              </a:rPr>
              <a:t>P2P</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Peer telemetry every 250 ms, </a:t>
            </a:r>
            <a:r>
              <a:rPr lang="en-US">
                <a:solidFill>
                  <a:srgbClr val="1A1A2E"/>
                </a:solidFill>
                <a:latin typeface="Calibri"/>
                <a:ea typeface="Calibri"/>
                <a:cs typeface="Calibri"/>
                <a:sym typeface="Calibri"/>
              </a:rPr>
              <a:t>Wifi</a:t>
            </a:r>
            <a:r>
              <a:rPr b="0" i="0" lang="en-US" sz="1400" u="none" cap="none" strike="noStrike">
                <a:solidFill>
                  <a:srgbClr val="1A1A2E"/>
                </a:solidFill>
                <a:latin typeface="Calibri"/>
                <a:ea typeface="Calibri"/>
                <a:cs typeface="Calibri"/>
                <a:sym typeface="Calibri"/>
              </a:rPr>
              <a:t> channel 1</a:t>
            </a:r>
            <a:endParaRPr b="0" i="0" sz="1600" u="none" cap="none" strike="noStrike">
              <a:solidFill>
                <a:schemeClr val="dk1"/>
              </a:solidFill>
              <a:latin typeface="Calibri"/>
              <a:ea typeface="Calibri"/>
              <a:cs typeface="Calibri"/>
              <a:sym typeface="Calibri"/>
            </a:endParaRPr>
          </a:p>
        </p:txBody>
      </p:sp>
      <p:sp>
        <p:nvSpPr>
          <p:cNvPr id="105" name="Google Shape;105;p9"/>
          <p:cNvSpPr txBox="1"/>
          <p:nvPr/>
        </p:nvSpPr>
        <p:spPr>
          <a:xfrm>
            <a:off x="4389120" y="2011680"/>
            <a:ext cx="3657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7CF4"/>
              </a:buClr>
              <a:buSzPts val="2200"/>
              <a:buFont typeface="Calibri"/>
              <a:buNone/>
            </a:pPr>
            <a:r>
              <a:rPr b="1" i="0" lang="en-US" sz="2200" u="none" cap="none" strike="noStrike">
                <a:solidFill>
                  <a:srgbClr val="3B7CF4"/>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06" name="Google Shape;106;p9"/>
          <p:cNvSpPr/>
          <p:nvPr/>
        </p:nvSpPr>
        <p:spPr>
          <a:xfrm>
            <a:off x="4754880" y="1371600"/>
            <a:ext cx="1783200" cy="1920300"/>
          </a:xfrm>
          <a:prstGeom prst="roundRect">
            <a:avLst>
              <a:gd fmla="val 4103"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9"/>
          <p:cNvSpPr txBox="1"/>
          <p:nvPr/>
        </p:nvSpPr>
        <p:spPr>
          <a:xfrm>
            <a:off x="4892053" y="1463090"/>
            <a:ext cx="1508700" cy="173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chemeClr val="dk1"/>
                </a:solidFill>
                <a:latin typeface="Calibri"/>
                <a:ea typeface="Calibri"/>
                <a:cs typeface="Calibri"/>
                <a:sym typeface="Calibri"/>
              </a:rPr>
              <a:t>Gateway Brick</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FFFFFF"/>
              </a:buClr>
              <a:buSzPts val="1400"/>
              <a:buFont typeface="Calibri"/>
              <a:buNone/>
            </a:pPr>
            <a:r>
              <a:rPr b="0" i="0" lang="en-US" sz="1400" u="none" cap="none" strike="noStrike">
                <a:solidFill>
                  <a:schemeClr val="dk1"/>
                </a:solidFill>
                <a:latin typeface="Calibri"/>
                <a:ea typeface="Calibri"/>
                <a:cs typeface="Calibri"/>
                <a:sym typeface="Calibri"/>
              </a:rPr>
              <a:t>Lowest UID auto-elected. Hosts hotspot + /api/state</a:t>
            </a:r>
            <a:endParaRPr b="0" i="0" sz="1600" u="none" cap="none" strike="noStrike">
              <a:solidFill>
                <a:schemeClr val="dk1"/>
              </a:solidFill>
              <a:latin typeface="Calibri"/>
              <a:ea typeface="Calibri"/>
              <a:cs typeface="Calibri"/>
              <a:sym typeface="Calibri"/>
            </a:endParaRPr>
          </a:p>
        </p:txBody>
      </p:sp>
      <p:sp>
        <p:nvSpPr>
          <p:cNvPr id="108" name="Google Shape;108;p9"/>
          <p:cNvSpPr txBox="1"/>
          <p:nvPr/>
        </p:nvSpPr>
        <p:spPr>
          <a:xfrm>
            <a:off x="6537960" y="2011680"/>
            <a:ext cx="3657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7CF4"/>
              </a:buClr>
              <a:buSzPts val="2200"/>
              <a:buFont typeface="Calibri"/>
              <a:buNone/>
            </a:pPr>
            <a:r>
              <a:rPr b="1" i="0" lang="en-US" sz="2200" u="none" cap="none" strike="noStrike">
                <a:solidFill>
                  <a:srgbClr val="3B7CF4"/>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09" name="Google Shape;109;p9"/>
          <p:cNvSpPr/>
          <p:nvPr/>
        </p:nvSpPr>
        <p:spPr>
          <a:xfrm>
            <a:off x="6903720" y="1371600"/>
            <a:ext cx="1783080" cy="1920240"/>
          </a:xfrm>
          <a:prstGeom prst="roundRect">
            <a:avLst>
              <a:gd fmla="val 4103"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txBox="1"/>
          <p:nvPr/>
        </p:nvSpPr>
        <p:spPr>
          <a:xfrm>
            <a:off x="7040880" y="1463040"/>
            <a:ext cx="150876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Web Dashboard</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192.168.4.1. Live cards + 2D layout</a:t>
            </a:r>
            <a:endParaRPr b="0" i="0" sz="1600" u="none" cap="none" strike="noStrike">
              <a:solidFill>
                <a:schemeClr val="dk1"/>
              </a:solidFill>
              <a:latin typeface="Calibri"/>
              <a:ea typeface="Calibri"/>
              <a:cs typeface="Calibri"/>
              <a:sym typeface="Calibri"/>
            </a:endParaRPr>
          </a:p>
        </p:txBody>
      </p:sp>
      <p:sp>
        <p:nvSpPr>
          <p:cNvPr id="111" name="Google Shape;111;p9"/>
          <p:cNvSpPr txBox="1"/>
          <p:nvPr/>
        </p:nvSpPr>
        <p:spPr>
          <a:xfrm>
            <a:off x="457200" y="3611880"/>
            <a:ext cx="8229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400"/>
              <a:buFont typeface="Calibri"/>
              <a:buNone/>
            </a:pPr>
            <a:r>
              <a:rPr b="1" i="0" lang="en-US" sz="1400" u="none" cap="none" strike="noStrike">
                <a:solidFill>
                  <a:srgbClr val="1A1A2E"/>
                </a:solidFill>
                <a:latin typeface="Calibri"/>
                <a:ea typeface="Calibri"/>
                <a:cs typeface="Calibri"/>
                <a:sym typeface="Calibri"/>
              </a:rPr>
              <a:t>One firmware image: </a:t>
            </a:r>
            <a:r>
              <a:rPr b="0" i="0" lang="en-US" sz="1400" u="none" cap="none" strike="noStrike">
                <a:solidFill>
                  <a:srgbClr val="1A1A2E"/>
                </a:solidFill>
                <a:latin typeface="Calibri"/>
                <a:ea typeface="Calibri"/>
                <a:cs typeface="Calibri"/>
                <a:sym typeface="Calibri"/>
              </a:rPr>
              <a:t>IDs and brick numbers are assigned automatically</a:t>
            </a:r>
            <a:endParaRPr b="0" i="0" sz="14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1A1A2E"/>
              </a:buClr>
              <a:buSzPts val="1400"/>
              <a:buFont typeface="Calibri"/>
              <a:buNone/>
            </a:pPr>
            <a:r>
              <a:rPr b="1" i="0" lang="en-US" sz="1400" u="none" cap="none" strike="noStrike">
                <a:solidFill>
                  <a:srgbClr val="1A1A2E"/>
                </a:solidFill>
                <a:latin typeface="Calibri"/>
                <a:ea typeface="Calibri"/>
                <a:cs typeface="Calibri"/>
                <a:sym typeface="Calibri"/>
              </a:rPr>
              <a:t>Offline: </a:t>
            </a:r>
            <a:r>
              <a:rPr b="0" i="0" lang="en-US" sz="1400" u="none" cap="none" strike="noStrike">
                <a:solidFill>
                  <a:srgbClr val="1A1A2E"/>
                </a:solidFill>
                <a:latin typeface="Calibri"/>
                <a:ea typeface="Calibri"/>
                <a:cs typeface="Calibri"/>
                <a:sym typeface="Calibri"/>
              </a:rPr>
              <a:t>join Wi-Fi </a:t>
            </a:r>
            <a:r>
              <a:rPr lang="en-US">
                <a:solidFill>
                  <a:srgbClr val="1A1A2E"/>
                </a:solidFill>
                <a:latin typeface="Calibri"/>
                <a:ea typeface="Calibri"/>
                <a:cs typeface="Calibri"/>
                <a:sym typeface="Calibri"/>
              </a:rPr>
              <a:t>Smart Surgery Tray</a:t>
            </a:r>
            <a:r>
              <a:rPr b="0" i="0" lang="en-US" sz="1400" u="none" cap="none" strike="noStrike">
                <a:solidFill>
                  <a:srgbClr val="1A1A2E"/>
                </a:solidFill>
                <a:latin typeface="Calibri"/>
                <a:ea typeface="Calibri"/>
                <a:cs typeface="Calibri"/>
                <a:sym typeface="Calibri"/>
              </a:rPr>
              <a:t>, open the page, no internet needed</a:t>
            </a:r>
            <a:endParaRPr b="0" i="0" sz="1400" u="none" cap="none" strike="noStrike">
              <a:solidFill>
                <a:schemeClr val="dk1"/>
              </a:solidFill>
              <a:latin typeface="Calibri"/>
              <a:ea typeface="Calibri"/>
              <a:cs typeface="Calibri"/>
              <a:sym typeface="Calibri"/>
            </a:endParaRPr>
          </a:p>
        </p:txBody>
      </p:sp>
      <p:sp>
        <p:nvSpPr>
          <p:cNvPr id="112" name="Google Shape;112;p9"/>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0"/>
          <p:cNvSpPr txBox="1"/>
          <p:nvPr>
            <p:ph type="title"/>
          </p:nvPr>
        </p:nvSpPr>
        <p:spPr>
          <a:xfrm>
            <a:off x="457200" y="384048"/>
            <a:ext cx="822960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b="1" lang="en-US" sz="3200">
                <a:solidFill>
                  <a:srgbClr val="1A1A2E"/>
                </a:solidFill>
                <a:latin typeface="Calibri"/>
                <a:ea typeface="Calibri"/>
                <a:cs typeface="Calibri"/>
                <a:sym typeface="Calibri"/>
              </a:rPr>
              <a:t>Sensors Used and Hardware</a:t>
            </a:r>
            <a:endParaRPr sz="3200"/>
          </a:p>
        </p:txBody>
      </p:sp>
      <p:graphicFrame>
        <p:nvGraphicFramePr>
          <p:cNvPr id="119" name="Google Shape;119;p10"/>
          <p:cNvGraphicFramePr/>
          <p:nvPr/>
        </p:nvGraphicFramePr>
        <p:xfrm>
          <a:off x="457200" y="1234440"/>
          <a:ext cx="3000000" cy="3000000"/>
        </p:xfrm>
        <a:graphic>
          <a:graphicData uri="http://schemas.openxmlformats.org/drawingml/2006/table">
            <a:tbl>
              <a:tblPr>
                <a:noFill/>
                <a:tableStyleId>{60F67CE2-102B-4B19-8DCE-0032B3BD5D83}</a:tableStyleId>
              </a:tblPr>
              <a:tblGrid>
                <a:gridCol w="2377450"/>
                <a:gridCol w="5852150"/>
              </a:tblGrid>
              <a:tr h="502925">
                <a:tc>
                  <a:txBody>
                    <a:bodyPr/>
                    <a:lstStyle/>
                    <a:p>
                      <a:pPr indent="0" lvl="0" marL="0" marR="0" rtl="0" algn="l">
                        <a:spcBef>
                          <a:spcPts val="0"/>
                        </a:spcBef>
                        <a:spcAft>
                          <a:spcPts val="0"/>
                        </a:spcAft>
                        <a:buClr>
                          <a:srgbClr val="1A1A2E"/>
                        </a:buClr>
                        <a:buSzPts val="1400"/>
                        <a:buFont typeface="Calibri"/>
                        <a:buNone/>
                      </a:pPr>
                      <a:r>
                        <a:rPr b="1" lang="en-US" sz="1400" u="none" cap="none" strike="noStrike">
                          <a:solidFill>
                            <a:srgbClr val="1A1A2E"/>
                          </a:solidFill>
                          <a:latin typeface="Calibri"/>
                          <a:ea typeface="Calibri"/>
                          <a:cs typeface="Calibri"/>
                          <a:sym typeface="Calibri"/>
                        </a:rPr>
                        <a:t>Microcontroller</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solidFill>
                      <a:srgbClr val="EAF1FE"/>
                    </a:solidFill>
                  </a:tcPr>
                </a:tc>
                <a:tc>
                  <a:txBody>
                    <a:bodyPr/>
                    <a:lstStyle/>
                    <a:p>
                      <a:pPr indent="0" lvl="0" marL="0" marR="0" rtl="0" algn="l">
                        <a:spcBef>
                          <a:spcPts val="0"/>
                        </a:spcBef>
                        <a:spcAft>
                          <a:spcPts val="0"/>
                        </a:spcAft>
                        <a:buClr>
                          <a:srgbClr val="1A1A2E"/>
                        </a:buClr>
                        <a:buSzPts val="1400"/>
                        <a:buFont typeface="Calibri"/>
                        <a:buNone/>
                      </a:pPr>
                      <a:r>
                        <a:rPr lang="en-US" sz="1400" u="none" cap="none" strike="noStrike">
                          <a:solidFill>
                            <a:srgbClr val="1A1A2E"/>
                          </a:solidFill>
                          <a:latin typeface="Calibri"/>
                          <a:ea typeface="Calibri"/>
                          <a:cs typeface="Calibri"/>
                          <a:sym typeface="Calibri"/>
                        </a:rPr>
                        <a:t>ESP32 DevKit V1 (ESP-NOW + Wi-Fi AP)</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tcPr>
                </a:tc>
              </a:tr>
              <a:tr h="502925">
                <a:tc>
                  <a:txBody>
                    <a:bodyPr/>
                    <a:lstStyle/>
                    <a:p>
                      <a:pPr indent="0" lvl="0" marL="0" marR="0" rtl="0" algn="l">
                        <a:spcBef>
                          <a:spcPts val="0"/>
                        </a:spcBef>
                        <a:spcAft>
                          <a:spcPts val="0"/>
                        </a:spcAft>
                        <a:buClr>
                          <a:srgbClr val="1A1A2E"/>
                        </a:buClr>
                        <a:buSzPts val="1400"/>
                        <a:buFont typeface="Calibri"/>
                        <a:buNone/>
                      </a:pPr>
                      <a:r>
                        <a:rPr b="1" lang="en-US" sz="1400" u="none" cap="none" strike="noStrike">
                          <a:solidFill>
                            <a:srgbClr val="1A1A2E"/>
                          </a:solidFill>
                          <a:latin typeface="Calibri"/>
                          <a:ea typeface="Calibri"/>
                          <a:cs typeface="Calibri"/>
                          <a:sym typeface="Calibri"/>
                        </a:rPr>
                        <a:t>Instrument tracking</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solidFill>
                      <a:srgbClr val="EAF1FE"/>
                    </a:solidFill>
                  </a:tcPr>
                </a:tc>
                <a:tc>
                  <a:txBody>
                    <a:bodyPr/>
                    <a:lstStyle/>
                    <a:p>
                      <a:pPr indent="0" lvl="0" marL="0" marR="0" rtl="0" algn="l">
                        <a:spcBef>
                          <a:spcPts val="0"/>
                        </a:spcBef>
                        <a:spcAft>
                          <a:spcPts val="0"/>
                        </a:spcAft>
                        <a:buClr>
                          <a:srgbClr val="1A1A2E"/>
                        </a:buClr>
                        <a:buSzPts val="1400"/>
                        <a:buFont typeface="Calibri"/>
                        <a:buNone/>
                      </a:pPr>
                      <a:r>
                        <a:rPr lang="en-US" sz="1400" u="none" cap="none" strike="noStrike">
                          <a:solidFill>
                            <a:srgbClr val="1A1A2E"/>
                          </a:solidFill>
                          <a:latin typeface="Calibri"/>
                          <a:ea typeface="Calibri"/>
                          <a:cs typeface="Calibri"/>
                          <a:sym typeface="Calibri"/>
                        </a:rPr>
                        <a:t>MFRC522 RFID reader + passive tags (top-facing)</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tcPr>
                </a:tc>
              </a:tr>
              <a:tr h="502925">
                <a:tc>
                  <a:txBody>
                    <a:bodyPr/>
                    <a:lstStyle/>
                    <a:p>
                      <a:pPr indent="0" lvl="0" marL="0" marR="0" rtl="0" algn="l">
                        <a:spcBef>
                          <a:spcPts val="0"/>
                        </a:spcBef>
                        <a:spcAft>
                          <a:spcPts val="0"/>
                        </a:spcAft>
                        <a:buClr>
                          <a:srgbClr val="1A1A2E"/>
                        </a:buClr>
                        <a:buSzPts val="1400"/>
                        <a:buFont typeface="Calibri"/>
                        <a:buNone/>
                      </a:pPr>
                      <a:r>
                        <a:rPr b="1" lang="en-US" sz="1400" u="none" cap="none" strike="noStrike">
                          <a:solidFill>
                            <a:srgbClr val="1A1A2E"/>
                          </a:solidFill>
                          <a:latin typeface="Calibri"/>
                          <a:ea typeface="Calibri"/>
                          <a:cs typeface="Calibri"/>
                          <a:sym typeface="Calibri"/>
                        </a:rPr>
                        <a:t>Face detection</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solidFill>
                      <a:srgbClr val="EAF1FE"/>
                    </a:solidFill>
                  </a:tcPr>
                </a:tc>
                <a:tc>
                  <a:txBody>
                    <a:bodyPr/>
                    <a:lstStyle/>
                    <a:p>
                      <a:pPr indent="0" lvl="0" marL="0" marR="0" rtl="0" algn="l">
                        <a:spcBef>
                          <a:spcPts val="0"/>
                        </a:spcBef>
                        <a:spcAft>
                          <a:spcPts val="0"/>
                        </a:spcAft>
                        <a:buClr>
                          <a:srgbClr val="1A1A2E"/>
                        </a:buClr>
                        <a:buSzPts val="1400"/>
                        <a:buFont typeface="Calibri"/>
                        <a:buNone/>
                      </a:pPr>
                      <a:r>
                        <a:rPr lang="en-US" sz="1400" u="none" cap="none" strike="noStrike">
                          <a:solidFill>
                            <a:srgbClr val="1A1A2E"/>
                          </a:solidFill>
                          <a:latin typeface="Calibri"/>
                          <a:ea typeface="Calibri"/>
                          <a:cs typeface="Calibri"/>
                          <a:sym typeface="Calibri"/>
                        </a:rPr>
                        <a:t>4 IR obstacle sensors (N / E / S / W)</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tcPr>
                </a:tc>
              </a:tr>
              <a:tr h="502925">
                <a:tc>
                  <a:txBody>
                    <a:bodyPr/>
                    <a:lstStyle/>
                    <a:p>
                      <a:pPr indent="0" lvl="0" marL="0" marR="0" rtl="0" algn="l">
                        <a:spcBef>
                          <a:spcPts val="0"/>
                        </a:spcBef>
                        <a:spcAft>
                          <a:spcPts val="0"/>
                        </a:spcAft>
                        <a:buClr>
                          <a:srgbClr val="1A1A2E"/>
                        </a:buClr>
                        <a:buSzPts val="1400"/>
                        <a:buFont typeface="Calibri"/>
                        <a:buNone/>
                      </a:pPr>
                      <a:r>
                        <a:rPr b="1" lang="en-US" sz="1400" u="none" cap="none" strike="noStrike">
                          <a:solidFill>
                            <a:srgbClr val="1A1A2E"/>
                          </a:solidFill>
                          <a:latin typeface="Calibri"/>
                          <a:ea typeface="Calibri"/>
                          <a:cs typeface="Calibri"/>
                          <a:sym typeface="Calibri"/>
                        </a:rPr>
                        <a:t>Orientation</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solidFill>
                      <a:srgbClr val="EAF1FE"/>
                    </a:solidFill>
                  </a:tcPr>
                </a:tc>
                <a:tc>
                  <a:txBody>
                    <a:bodyPr/>
                    <a:lstStyle/>
                    <a:p>
                      <a:pPr indent="0" lvl="0" marL="0" marR="0" rtl="0" algn="l">
                        <a:spcBef>
                          <a:spcPts val="0"/>
                        </a:spcBef>
                        <a:spcAft>
                          <a:spcPts val="0"/>
                        </a:spcAft>
                        <a:buClr>
                          <a:srgbClr val="1A1A2E"/>
                        </a:buClr>
                        <a:buSzPts val="1400"/>
                        <a:buFont typeface="Calibri"/>
                        <a:buNone/>
                      </a:pPr>
                      <a:r>
                        <a:rPr lang="en-US" sz="1400" u="none" cap="none" strike="noStrike">
                          <a:solidFill>
                            <a:srgbClr val="1A1A2E"/>
                          </a:solidFill>
                          <a:latin typeface="Calibri"/>
                          <a:ea typeface="Calibri"/>
                          <a:cs typeface="Calibri"/>
                          <a:sym typeface="Calibri"/>
                        </a:rPr>
                        <a:t>MPU9250-class IMU: accelerometer + gyroscope (I2C)</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tcPr>
                </a:tc>
              </a:tr>
              <a:tr h="502925">
                <a:tc>
                  <a:txBody>
                    <a:bodyPr/>
                    <a:lstStyle/>
                    <a:p>
                      <a:pPr indent="0" lvl="0" marL="0" marR="0" rtl="0" algn="l">
                        <a:spcBef>
                          <a:spcPts val="0"/>
                        </a:spcBef>
                        <a:spcAft>
                          <a:spcPts val="0"/>
                        </a:spcAft>
                        <a:buClr>
                          <a:srgbClr val="1A1A2E"/>
                        </a:buClr>
                        <a:buSzPts val="1400"/>
                        <a:buFont typeface="Calibri"/>
                        <a:buNone/>
                      </a:pPr>
                      <a:r>
                        <a:rPr b="1" lang="en-US" sz="1400" u="none" cap="none" strike="noStrike">
                          <a:solidFill>
                            <a:srgbClr val="1A1A2E"/>
                          </a:solidFill>
                          <a:latin typeface="Calibri"/>
                          <a:ea typeface="Calibri"/>
                          <a:cs typeface="Calibri"/>
                          <a:sym typeface="Calibri"/>
                        </a:rPr>
                        <a:t>Feedback</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solidFill>
                      <a:srgbClr val="EAF1FE"/>
                    </a:solidFill>
                  </a:tcPr>
                </a:tc>
                <a:tc>
                  <a:txBody>
                    <a:bodyPr/>
                    <a:lstStyle/>
                    <a:p>
                      <a:pPr indent="0" lvl="0" marL="0" marR="0" rtl="0" algn="l">
                        <a:spcBef>
                          <a:spcPts val="0"/>
                        </a:spcBef>
                        <a:spcAft>
                          <a:spcPts val="0"/>
                        </a:spcAft>
                        <a:buClr>
                          <a:srgbClr val="1A1A2E"/>
                        </a:buClr>
                        <a:buSzPts val="1400"/>
                        <a:buFont typeface="Calibri"/>
                        <a:buNone/>
                      </a:pPr>
                      <a:r>
                        <a:rPr lang="en-US" sz="1400" u="none" cap="none" strike="noStrike">
                          <a:solidFill>
                            <a:srgbClr val="1A1A2E"/>
                          </a:solidFill>
                          <a:latin typeface="Calibri"/>
                          <a:ea typeface="Calibri"/>
                          <a:cs typeface="Calibri"/>
                          <a:sym typeface="Calibri"/>
                        </a:rPr>
                        <a:t>RGB LED, active buzzer, 6 mm ERM vibration motor</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tcPr>
                </a:tc>
              </a:tr>
              <a:tr h="502925">
                <a:tc>
                  <a:txBody>
                    <a:bodyPr/>
                    <a:lstStyle/>
                    <a:p>
                      <a:pPr indent="0" lvl="0" marL="0" marR="0" rtl="0" algn="l">
                        <a:spcBef>
                          <a:spcPts val="0"/>
                        </a:spcBef>
                        <a:spcAft>
                          <a:spcPts val="0"/>
                        </a:spcAft>
                        <a:buClr>
                          <a:srgbClr val="1A1A2E"/>
                        </a:buClr>
                        <a:buSzPts val="1400"/>
                        <a:buFont typeface="Calibri"/>
                        <a:buNone/>
                      </a:pPr>
                      <a:r>
                        <a:rPr b="1" lang="en-US" sz="1400" u="none" cap="none" strike="noStrike">
                          <a:solidFill>
                            <a:srgbClr val="1A1A2E"/>
                          </a:solidFill>
                          <a:latin typeface="Calibri"/>
                          <a:ea typeface="Calibri"/>
                          <a:cs typeface="Calibri"/>
                          <a:sym typeface="Calibri"/>
                        </a:rPr>
                        <a:t>Enclosure</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solidFill>
                      <a:srgbClr val="EAF1FE"/>
                    </a:solidFill>
                  </a:tcPr>
                </a:tc>
                <a:tc>
                  <a:txBody>
                    <a:bodyPr/>
                    <a:lstStyle/>
                    <a:p>
                      <a:pPr indent="0" lvl="0" marL="0" marR="0" rtl="0" algn="l">
                        <a:spcBef>
                          <a:spcPts val="0"/>
                        </a:spcBef>
                        <a:spcAft>
                          <a:spcPts val="0"/>
                        </a:spcAft>
                        <a:buClr>
                          <a:srgbClr val="1A1A2E"/>
                        </a:buClr>
                        <a:buSzPts val="1400"/>
                        <a:buFont typeface="Calibri"/>
                        <a:buNone/>
                      </a:pPr>
                      <a:r>
                        <a:rPr lang="en-US" sz="1400" u="none" cap="none" strike="noStrike">
                          <a:solidFill>
                            <a:srgbClr val="1A1A2E"/>
                          </a:solidFill>
                          <a:latin typeface="Calibri"/>
                          <a:ea typeface="Calibri"/>
                          <a:cs typeface="Calibri"/>
                          <a:sym typeface="Calibri"/>
                        </a:rPr>
                        <a:t>Modular 3D-printed bases, instrument slots, diffuser caps</a:t>
                      </a:r>
                      <a:endParaRPr sz="1400" u="none" cap="none" strike="noStrike">
                        <a:latin typeface="Calibri"/>
                        <a:ea typeface="Calibri"/>
                        <a:cs typeface="Calibri"/>
                        <a:sym typeface="Calibri"/>
                      </a:endParaRPr>
                    </a:p>
                  </a:txBody>
                  <a:tcPr marT="0" marB="0" marR="109725" marL="109725" anchor="ctr">
                    <a:lnL cap="flat" cmpd="sng" w="9525">
                      <a:solidFill>
                        <a:srgbClr val="C9D6EE"/>
                      </a:solidFill>
                      <a:prstDash val="solid"/>
                      <a:round/>
                      <a:headEnd len="sm" w="sm" type="none"/>
                      <a:tailEnd len="sm" w="sm" type="none"/>
                    </a:lnL>
                    <a:lnR cap="flat" cmpd="sng" w="9525">
                      <a:solidFill>
                        <a:srgbClr val="C9D6EE"/>
                      </a:solidFill>
                      <a:prstDash val="solid"/>
                      <a:round/>
                      <a:headEnd len="sm" w="sm" type="none"/>
                      <a:tailEnd len="sm" w="sm" type="none"/>
                    </a:lnR>
                    <a:lnT cap="flat" cmpd="sng" w="9525">
                      <a:solidFill>
                        <a:srgbClr val="C9D6EE"/>
                      </a:solidFill>
                      <a:prstDash val="solid"/>
                      <a:round/>
                      <a:headEnd len="sm" w="sm" type="none"/>
                      <a:tailEnd len="sm" w="sm" type="none"/>
                    </a:lnT>
                    <a:lnB cap="flat" cmpd="sng" w="9525">
                      <a:solidFill>
                        <a:srgbClr val="C9D6EE"/>
                      </a:solidFill>
                      <a:prstDash val="solid"/>
                      <a:round/>
                      <a:headEnd len="sm" w="sm" type="none"/>
                      <a:tailEnd len="sm" w="sm" type="none"/>
                    </a:lnB>
                  </a:tcPr>
                </a:tc>
              </a:tr>
            </a:tbl>
          </a:graphicData>
        </a:graphic>
      </p:graphicFrame>
      <p:sp>
        <p:nvSpPr>
          <p:cNvPr id="120" name="Google Shape;120;p10"/>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1"/>
          <p:cNvSpPr txBox="1"/>
          <p:nvPr>
            <p:ph type="title"/>
          </p:nvPr>
        </p:nvSpPr>
        <p:spPr>
          <a:xfrm>
            <a:off x="457200" y="384048"/>
            <a:ext cx="822960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b="1" lang="en-US" sz="3200">
                <a:solidFill>
                  <a:srgbClr val="1A1A2E"/>
                </a:solidFill>
                <a:latin typeface="Calibri"/>
                <a:ea typeface="Calibri"/>
                <a:cs typeface="Calibri"/>
                <a:sym typeface="Calibri"/>
              </a:rPr>
              <a:t>Pin-out Diagram</a:t>
            </a:r>
            <a:endParaRPr sz="3200"/>
          </a:p>
        </p:txBody>
      </p:sp>
      <p:sp>
        <p:nvSpPr>
          <p:cNvPr id="127" name="Google Shape;127;p11"/>
          <p:cNvSpPr/>
          <p:nvPr/>
        </p:nvSpPr>
        <p:spPr>
          <a:xfrm>
            <a:off x="3291840" y="1188720"/>
            <a:ext cx="2560320" cy="3429000"/>
          </a:xfrm>
          <a:prstGeom prst="roundRect">
            <a:avLst>
              <a:gd fmla="val 3571" name="adj"/>
            </a:avLst>
          </a:prstGeom>
          <a:solidFill>
            <a:srgbClr val="EAF1FE"/>
          </a:solidFill>
          <a:ln cap="flat" cmpd="sng" w="19050">
            <a:solidFill>
              <a:srgbClr val="3B7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txBox="1"/>
          <p:nvPr/>
        </p:nvSpPr>
        <p:spPr>
          <a:xfrm>
            <a:off x="3291840" y="2194560"/>
            <a:ext cx="256032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ESP32</a:t>
            </a:r>
            <a:endParaRPr b="0" i="0" sz="2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30-pin DevKit V1</a:t>
            </a:r>
            <a:endParaRPr b="0" i="0" sz="2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same on all bricks</a:t>
            </a:r>
            <a:endParaRPr b="0" i="0" sz="2200" u="none" cap="none" strike="noStrike">
              <a:solidFill>
                <a:schemeClr val="dk1"/>
              </a:solidFill>
              <a:latin typeface="Calibri"/>
              <a:ea typeface="Calibri"/>
              <a:cs typeface="Calibri"/>
              <a:sym typeface="Calibri"/>
            </a:endParaRPr>
          </a:p>
        </p:txBody>
      </p:sp>
      <p:sp>
        <p:nvSpPr>
          <p:cNvPr id="129" name="Google Shape;129;p11"/>
          <p:cNvSpPr txBox="1"/>
          <p:nvPr/>
        </p:nvSpPr>
        <p:spPr>
          <a:xfrm>
            <a:off x="457200" y="1234440"/>
            <a:ext cx="274320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4  </a:t>
            </a:r>
            <a:r>
              <a:rPr b="0" i="0" lang="en-US" sz="1400" u="none" cap="none" strike="noStrike">
                <a:solidFill>
                  <a:srgbClr val="1A1A2E"/>
                </a:solidFill>
                <a:latin typeface="Calibri"/>
                <a:ea typeface="Calibri"/>
                <a:cs typeface="Calibri"/>
                <a:sym typeface="Calibri"/>
              </a:rPr>
              <a:t>RFID RST</a:t>
            </a:r>
            <a:endParaRPr b="0" i="0" sz="1400" u="none" cap="none" strike="noStrike">
              <a:solidFill>
                <a:schemeClr val="dk1"/>
              </a:solidFill>
              <a:latin typeface="Calibri"/>
              <a:ea typeface="Calibri"/>
              <a:cs typeface="Calibri"/>
              <a:sym typeface="Calibri"/>
            </a:endParaRPr>
          </a:p>
        </p:txBody>
      </p:sp>
      <p:cxnSp>
        <p:nvCxnSpPr>
          <p:cNvPr id="130" name="Google Shape;130;p11"/>
          <p:cNvCxnSpPr/>
          <p:nvPr/>
        </p:nvCxnSpPr>
        <p:spPr>
          <a:xfrm>
            <a:off x="3200400" y="1417320"/>
            <a:ext cx="91440" cy="0"/>
          </a:xfrm>
          <a:prstGeom prst="straightConnector1">
            <a:avLst/>
          </a:prstGeom>
          <a:noFill/>
          <a:ln cap="flat" cmpd="sng" w="19050">
            <a:solidFill>
              <a:srgbClr val="3B7CF4"/>
            </a:solidFill>
            <a:prstDash val="solid"/>
            <a:round/>
            <a:headEnd len="sm" w="sm" type="none"/>
            <a:tailEnd len="sm" w="sm" type="none"/>
          </a:ln>
        </p:spPr>
      </p:cxnSp>
      <p:sp>
        <p:nvSpPr>
          <p:cNvPr id="131" name="Google Shape;131;p11"/>
          <p:cNvSpPr txBox="1"/>
          <p:nvPr/>
        </p:nvSpPr>
        <p:spPr>
          <a:xfrm>
            <a:off x="457200" y="1655064"/>
            <a:ext cx="274320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5  </a:t>
            </a:r>
            <a:r>
              <a:rPr b="0" i="0" lang="en-US" sz="1400" u="none" cap="none" strike="noStrike">
                <a:solidFill>
                  <a:srgbClr val="1A1A2E"/>
                </a:solidFill>
                <a:latin typeface="Calibri"/>
                <a:ea typeface="Calibri"/>
                <a:cs typeface="Calibri"/>
                <a:sym typeface="Calibri"/>
              </a:rPr>
              <a:t>RFID SS</a:t>
            </a:r>
            <a:endParaRPr b="0" i="0" sz="1400" u="none" cap="none" strike="noStrike">
              <a:solidFill>
                <a:schemeClr val="dk1"/>
              </a:solidFill>
              <a:latin typeface="Calibri"/>
              <a:ea typeface="Calibri"/>
              <a:cs typeface="Calibri"/>
              <a:sym typeface="Calibri"/>
            </a:endParaRPr>
          </a:p>
        </p:txBody>
      </p:sp>
      <p:cxnSp>
        <p:nvCxnSpPr>
          <p:cNvPr id="132" name="Google Shape;132;p11"/>
          <p:cNvCxnSpPr/>
          <p:nvPr/>
        </p:nvCxnSpPr>
        <p:spPr>
          <a:xfrm>
            <a:off x="3200400" y="1837944"/>
            <a:ext cx="91440" cy="0"/>
          </a:xfrm>
          <a:prstGeom prst="straightConnector1">
            <a:avLst/>
          </a:prstGeom>
          <a:noFill/>
          <a:ln cap="flat" cmpd="sng" w="19050">
            <a:solidFill>
              <a:srgbClr val="3B7CF4"/>
            </a:solidFill>
            <a:prstDash val="solid"/>
            <a:round/>
            <a:headEnd len="sm" w="sm" type="none"/>
            <a:tailEnd len="sm" w="sm" type="none"/>
          </a:ln>
        </p:spPr>
      </p:cxnSp>
      <p:sp>
        <p:nvSpPr>
          <p:cNvPr id="133" name="Google Shape;133;p11"/>
          <p:cNvSpPr txBox="1"/>
          <p:nvPr/>
        </p:nvSpPr>
        <p:spPr>
          <a:xfrm>
            <a:off x="457200" y="2075688"/>
            <a:ext cx="274320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16  </a:t>
            </a:r>
            <a:r>
              <a:rPr b="0" i="0" lang="en-US" sz="1400" u="none" cap="none" strike="noStrike">
                <a:solidFill>
                  <a:srgbClr val="1A1A2E"/>
                </a:solidFill>
                <a:latin typeface="Calibri"/>
                <a:ea typeface="Calibri"/>
                <a:cs typeface="Calibri"/>
                <a:sym typeface="Calibri"/>
              </a:rPr>
              <a:t>RGB red</a:t>
            </a:r>
            <a:endParaRPr b="0" i="0" sz="1400" u="none" cap="none" strike="noStrike">
              <a:solidFill>
                <a:schemeClr val="dk1"/>
              </a:solidFill>
              <a:latin typeface="Calibri"/>
              <a:ea typeface="Calibri"/>
              <a:cs typeface="Calibri"/>
              <a:sym typeface="Calibri"/>
            </a:endParaRPr>
          </a:p>
        </p:txBody>
      </p:sp>
      <p:cxnSp>
        <p:nvCxnSpPr>
          <p:cNvPr id="134" name="Google Shape;134;p11"/>
          <p:cNvCxnSpPr/>
          <p:nvPr/>
        </p:nvCxnSpPr>
        <p:spPr>
          <a:xfrm>
            <a:off x="3200400" y="2258568"/>
            <a:ext cx="91440" cy="0"/>
          </a:xfrm>
          <a:prstGeom prst="straightConnector1">
            <a:avLst/>
          </a:prstGeom>
          <a:noFill/>
          <a:ln cap="flat" cmpd="sng" w="19050">
            <a:solidFill>
              <a:srgbClr val="3B7CF4"/>
            </a:solidFill>
            <a:prstDash val="solid"/>
            <a:round/>
            <a:headEnd len="sm" w="sm" type="none"/>
            <a:tailEnd len="sm" w="sm" type="none"/>
          </a:ln>
        </p:spPr>
      </p:cxnSp>
      <p:sp>
        <p:nvSpPr>
          <p:cNvPr id="135" name="Google Shape;135;p11"/>
          <p:cNvSpPr txBox="1"/>
          <p:nvPr/>
        </p:nvSpPr>
        <p:spPr>
          <a:xfrm>
            <a:off x="457200" y="2496312"/>
            <a:ext cx="274320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17  </a:t>
            </a:r>
            <a:r>
              <a:rPr b="0" i="0" lang="en-US" sz="1400" u="none" cap="none" strike="noStrike">
                <a:solidFill>
                  <a:srgbClr val="1A1A2E"/>
                </a:solidFill>
                <a:latin typeface="Calibri"/>
                <a:ea typeface="Calibri"/>
                <a:cs typeface="Calibri"/>
                <a:sym typeface="Calibri"/>
              </a:rPr>
              <a:t>RGB green</a:t>
            </a:r>
            <a:endParaRPr b="0" i="0" sz="1400" u="none" cap="none" strike="noStrike">
              <a:solidFill>
                <a:schemeClr val="dk1"/>
              </a:solidFill>
              <a:latin typeface="Calibri"/>
              <a:ea typeface="Calibri"/>
              <a:cs typeface="Calibri"/>
              <a:sym typeface="Calibri"/>
            </a:endParaRPr>
          </a:p>
        </p:txBody>
      </p:sp>
      <p:cxnSp>
        <p:nvCxnSpPr>
          <p:cNvPr id="136" name="Google Shape;136;p11"/>
          <p:cNvCxnSpPr/>
          <p:nvPr/>
        </p:nvCxnSpPr>
        <p:spPr>
          <a:xfrm>
            <a:off x="3200400" y="2679192"/>
            <a:ext cx="91440" cy="0"/>
          </a:xfrm>
          <a:prstGeom prst="straightConnector1">
            <a:avLst/>
          </a:prstGeom>
          <a:noFill/>
          <a:ln cap="flat" cmpd="sng" w="19050">
            <a:solidFill>
              <a:srgbClr val="3B7CF4"/>
            </a:solidFill>
            <a:prstDash val="solid"/>
            <a:round/>
            <a:headEnd len="sm" w="sm" type="none"/>
            <a:tailEnd len="sm" w="sm" type="none"/>
          </a:ln>
        </p:spPr>
      </p:cxnSp>
      <p:sp>
        <p:nvSpPr>
          <p:cNvPr id="137" name="Google Shape;137;p11"/>
          <p:cNvSpPr txBox="1"/>
          <p:nvPr/>
        </p:nvSpPr>
        <p:spPr>
          <a:xfrm>
            <a:off x="457200" y="2916936"/>
            <a:ext cx="274320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25  </a:t>
            </a:r>
            <a:r>
              <a:rPr b="0" i="0" lang="en-US" sz="1400" u="none" cap="none" strike="noStrike">
                <a:solidFill>
                  <a:srgbClr val="1A1A2E"/>
                </a:solidFill>
                <a:latin typeface="Calibri"/>
                <a:ea typeface="Calibri"/>
                <a:cs typeface="Calibri"/>
                <a:sym typeface="Calibri"/>
              </a:rPr>
              <a:t>RGB blue</a:t>
            </a:r>
            <a:endParaRPr b="0" i="0" sz="1400" u="none" cap="none" strike="noStrike">
              <a:solidFill>
                <a:schemeClr val="dk1"/>
              </a:solidFill>
              <a:latin typeface="Calibri"/>
              <a:ea typeface="Calibri"/>
              <a:cs typeface="Calibri"/>
              <a:sym typeface="Calibri"/>
            </a:endParaRPr>
          </a:p>
        </p:txBody>
      </p:sp>
      <p:cxnSp>
        <p:nvCxnSpPr>
          <p:cNvPr id="138" name="Google Shape;138;p11"/>
          <p:cNvCxnSpPr/>
          <p:nvPr/>
        </p:nvCxnSpPr>
        <p:spPr>
          <a:xfrm>
            <a:off x="3200400" y="3099816"/>
            <a:ext cx="91440" cy="0"/>
          </a:xfrm>
          <a:prstGeom prst="straightConnector1">
            <a:avLst/>
          </a:prstGeom>
          <a:noFill/>
          <a:ln cap="flat" cmpd="sng" w="19050">
            <a:solidFill>
              <a:srgbClr val="3B7CF4"/>
            </a:solidFill>
            <a:prstDash val="solid"/>
            <a:round/>
            <a:headEnd len="sm" w="sm" type="none"/>
            <a:tailEnd len="sm" w="sm" type="none"/>
          </a:ln>
        </p:spPr>
      </p:cxnSp>
      <p:sp>
        <p:nvSpPr>
          <p:cNvPr id="139" name="Google Shape;139;p11"/>
          <p:cNvSpPr txBox="1"/>
          <p:nvPr/>
        </p:nvSpPr>
        <p:spPr>
          <a:xfrm>
            <a:off x="457200" y="3337560"/>
            <a:ext cx="274320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26  </a:t>
            </a:r>
            <a:r>
              <a:rPr b="0" i="0" lang="en-US" sz="1400" u="none" cap="none" strike="noStrike">
                <a:solidFill>
                  <a:srgbClr val="1A1A2E"/>
                </a:solidFill>
                <a:latin typeface="Calibri"/>
                <a:ea typeface="Calibri"/>
                <a:cs typeface="Calibri"/>
                <a:sym typeface="Calibri"/>
              </a:rPr>
              <a:t>ERM gate</a:t>
            </a:r>
            <a:endParaRPr b="0" i="0" sz="1400" u="none" cap="none" strike="noStrike">
              <a:solidFill>
                <a:schemeClr val="dk1"/>
              </a:solidFill>
              <a:latin typeface="Calibri"/>
              <a:ea typeface="Calibri"/>
              <a:cs typeface="Calibri"/>
              <a:sym typeface="Calibri"/>
            </a:endParaRPr>
          </a:p>
        </p:txBody>
      </p:sp>
      <p:cxnSp>
        <p:nvCxnSpPr>
          <p:cNvPr id="140" name="Google Shape;140;p11"/>
          <p:cNvCxnSpPr/>
          <p:nvPr/>
        </p:nvCxnSpPr>
        <p:spPr>
          <a:xfrm>
            <a:off x="3200400" y="3520440"/>
            <a:ext cx="91440" cy="0"/>
          </a:xfrm>
          <a:prstGeom prst="straightConnector1">
            <a:avLst/>
          </a:prstGeom>
          <a:noFill/>
          <a:ln cap="flat" cmpd="sng" w="19050">
            <a:solidFill>
              <a:srgbClr val="3B7CF4"/>
            </a:solidFill>
            <a:prstDash val="solid"/>
            <a:round/>
            <a:headEnd len="sm" w="sm" type="none"/>
            <a:tailEnd len="sm" w="sm" type="none"/>
          </a:ln>
        </p:spPr>
      </p:cxnSp>
      <p:sp>
        <p:nvSpPr>
          <p:cNvPr id="141" name="Google Shape;141;p11"/>
          <p:cNvSpPr txBox="1"/>
          <p:nvPr/>
        </p:nvSpPr>
        <p:spPr>
          <a:xfrm>
            <a:off x="457200" y="3758184"/>
            <a:ext cx="274320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21  </a:t>
            </a:r>
            <a:r>
              <a:rPr b="0" i="0" lang="en-US" sz="1400" u="none" cap="none" strike="noStrike">
                <a:solidFill>
                  <a:srgbClr val="1A1A2E"/>
                </a:solidFill>
                <a:latin typeface="Calibri"/>
                <a:ea typeface="Calibri"/>
                <a:cs typeface="Calibri"/>
                <a:sym typeface="Calibri"/>
              </a:rPr>
              <a:t>IMU SDA</a:t>
            </a:r>
            <a:endParaRPr b="0" i="0" sz="1400" u="none" cap="none" strike="noStrike">
              <a:solidFill>
                <a:schemeClr val="dk1"/>
              </a:solidFill>
              <a:latin typeface="Calibri"/>
              <a:ea typeface="Calibri"/>
              <a:cs typeface="Calibri"/>
              <a:sym typeface="Calibri"/>
            </a:endParaRPr>
          </a:p>
        </p:txBody>
      </p:sp>
      <p:cxnSp>
        <p:nvCxnSpPr>
          <p:cNvPr id="142" name="Google Shape;142;p11"/>
          <p:cNvCxnSpPr/>
          <p:nvPr/>
        </p:nvCxnSpPr>
        <p:spPr>
          <a:xfrm>
            <a:off x="3200400" y="3941064"/>
            <a:ext cx="91440" cy="0"/>
          </a:xfrm>
          <a:prstGeom prst="straightConnector1">
            <a:avLst/>
          </a:prstGeom>
          <a:noFill/>
          <a:ln cap="flat" cmpd="sng" w="19050">
            <a:solidFill>
              <a:srgbClr val="3B7CF4"/>
            </a:solidFill>
            <a:prstDash val="solid"/>
            <a:round/>
            <a:headEnd len="sm" w="sm" type="none"/>
            <a:tailEnd len="sm" w="sm" type="none"/>
          </a:ln>
        </p:spPr>
      </p:cxnSp>
      <p:sp>
        <p:nvSpPr>
          <p:cNvPr id="143" name="Google Shape;143;p11"/>
          <p:cNvSpPr txBox="1"/>
          <p:nvPr/>
        </p:nvSpPr>
        <p:spPr>
          <a:xfrm>
            <a:off x="457200" y="4178808"/>
            <a:ext cx="274320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22  </a:t>
            </a:r>
            <a:r>
              <a:rPr b="0" i="0" lang="en-US" sz="1400" u="none" cap="none" strike="noStrike">
                <a:solidFill>
                  <a:srgbClr val="1A1A2E"/>
                </a:solidFill>
                <a:latin typeface="Calibri"/>
                <a:ea typeface="Calibri"/>
                <a:cs typeface="Calibri"/>
                <a:sym typeface="Calibri"/>
              </a:rPr>
              <a:t>IMU SCL</a:t>
            </a:r>
            <a:endParaRPr b="0" i="0" sz="1400" u="none" cap="none" strike="noStrike">
              <a:solidFill>
                <a:schemeClr val="dk1"/>
              </a:solidFill>
              <a:latin typeface="Calibri"/>
              <a:ea typeface="Calibri"/>
              <a:cs typeface="Calibri"/>
              <a:sym typeface="Calibri"/>
            </a:endParaRPr>
          </a:p>
        </p:txBody>
      </p:sp>
      <p:cxnSp>
        <p:nvCxnSpPr>
          <p:cNvPr id="144" name="Google Shape;144;p11"/>
          <p:cNvCxnSpPr/>
          <p:nvPr/>
        </p:nvCxnSpPr>
        <p:spPr>
          <a:xfrm>
            <a:off x="3200400" y="4361688"/>
            <a:ext cx="91440" cy="0"/>
          </a:xfrm>
          <a:prstGeom prst="straightConnector1">
            <a:avLst/>
          </a:prstGeom>
          <a:noFill/>
          <a:ln cap="flat" cmpd="sng" w="19050">
            <a:solidFill>
              <a:srgbClr val="3B7CF4"/>
            </a:solidFill>
            <a:prstDash val="solid"/>
            <a:round/>
            <a:headEnd len="sm" w="sm" type="none"/>
            <a:tailEnd len="sm" w="sm" type="none"/>
          </a:ln>
        </p:spPr>
      </p:cxnSp>
      <p:cxnSp>
        <p:nvCxnSpPr>
          <p:cNvPr id="145" name="Google Shape;145;p11"/>
          <p:cNvCxnSpPr/>
          <p:nvPr/>
        </p:nvCxnSpPr>
        <p:spPr>
          <a:xfrm>
            <a:off x="5852160" y="1417320"/>
            <a:ext cx="91440" cy="0"/>
          </a:xfrm>
          <a:prstGeom prst="straightConnector1">
            <a:avLst/>
          </a:prstGeom>
          <a:noFill/>
          <a:ln cap="flat" cmpd="sng" w="19050">
            <a:solidFill>
              <a:srgbClr val="3B7CF4"/>
            </a:solidFill>
            <a:prstDash val="solid"/>
            <a:round/>
            <a:headEnd len="sm" w="sm" type="none"/>
            <a:tailEnd len="sm" w="sm" type="none"/>
          </a:ln>
        </p:spPr>
      </p:cxnSp>
      <p:sp>
        <p:nvSpPr>
          <p:cNvPr id="146" name="Google Shape;146;p11"/>
          <p:cNvSpPr txBox="1"/>
          <p:nvPr/>
        </p:nvSpPr>
        <p:spPr>
          <a:xfrm>
            <a:off x="5943600" y="123444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23  </a:t>
            </a:r>
            <a:r>
              <a:rPr b="0" i="0" lang="en-US" sz="1400" u="none" cap="none" strike="noStrike">
                <a:solidFill>
                  <a:srgbClr val="1A1A2E"/>
                </a:solidFill>
                <a:latin typeface="Calibri"/>
                <a:ea typeface="Calibri"/>
                <a:cs typeface="Calibri"/>
                <a:sym typeface="Calibri"/>
              </a:rPr>
              <a:t>RFID MOSI</a:t>
            </a:r>
            <a:endParaRPr b="0" i="0" sz="1400" u="none" cap="none" strike="noStrike">
              <a:solidFill>
                <a:schemeClr val="dk1"/>
              </a:solidFill>
              <a:latin typeface="Calibri"/>
              <a:ea typeface="Calibri"/>
              <a:cs typeface="Calibri"/>
              <a:sym typeface="Calibri"/>
            </a:endParaRPr>
          </a:p>
        </p:txBody>
      </p:sp>
      <p:cxnSp>
        <p:nvCxnSpPr>
          <p:cNvPr id="147" name="Google Shape;147;p11"/>
          <p:cNvCxnSpPr/>
          <p:nvPr/>
        </p:nvCxnSpPr>
        <p:spPr>
          <a:xfrm>
            <a:off x="5852160" y="1837944"/>
            <a:ext cx="91440" cy="0"/>
          </a:xfrm>
          <a:prstGeom prst="straightConnector1">
            <a:avLst/>
          </a:prstGeom>
          <a:noFill/>
          <a:ln cap="flat" cmpd="sng" w="19050">
            <a:solidFill>
              <a:srgbClr val="3B7CF4"/>
            </a:solidFill>
            <a:prstDash val="solid"/>
            <a:round/>
            <a:headEnd len="sm" w="sm" type="none"/>
            <a:tailEnd len="sm" w="sm" type="none"/>
          </a:ln>
        </p:spPr>
      </p:cxnSp>
      <p:sp>
        <p:nvSpPr>
          <p:cNvPr id="148" name="Google Shape;148;p11"/>
          <p:cNvSpPr txBox="1"/>
          <p:nvPr/>
        </p:nvSpPr>
        <p:spPr>
          <a:xfrm>
            <a:off x="5943600" y="1655064"/>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19  </a:t>
            </a:r>
            <a:r>
              <a:rPr b="0" i="0" lang="en-US" sz="1400" u="none" cap="none" strike="noStrike">
                <a:solidFill>
                  <a:srgbClr val="1A1A2E"/>
                </a:solidFill>
                <a:latin typeface="Calibri"/>
                <a:ea typeface="Calibri"/>
                <a:cs typeface="Calibri"/>
                <a:sym typeface="Calibri"/>
              </a:rPr>
              <a:t>RFID MISO</a:t>
            </a:r>
            <a:endParaRPr b="0" i="0" sz="1400" u="none" cap="none" strike="noStrike">
              <a:solidFill>
                <a:schemeClr val="dk1"/>
              </a:solidFill>
              <a:latin typeface="Calibri"/>
              <a:ea typeface="Calibri"/>
              <a:cs typeface="Calibri"/>
              <a:sym typeface="Calibri"/>
            </a:endParaRPr>
          </a:p>
        </p:txBody>
      </p:sp>
      <p:cxnSp>
        <p:nvCxnSpPr>
          <p:cNvPr id="149" name="Google Shape;149;p11"/>
          <p:cNvCxnSpPr/>
          <p:nvPr/>
        </p:nvCxnSpPr>
        <p:spPr>
          <a:xfrm>
            <a:off x="5852160" y="2258568"/>
            <a:ext cx="91440" cy="0"/>
          </a:xfrm>
          <a:prstGeom prst="straightConnector1">
            <a:avLst/>
          </a:prstGeom>
          <a:noFill/>
          <a:ln cap="flat" cmpd="sng" w="19050">
            <a:solidFill>
              <a:srgbClr val="3B7CF4"/>
            </a:solidFill>
            <a:prstDash val="solid"/>
            <a:round/>
            <a:headEnd len="sm" w="sm" type="none"/>
            <a:tailEnd len="sm" w="sm" type="none"/>
          </a:ln>
        </p:spPr>
      </p:cxnSp>
      <p:sp>
        <p:nvSpPr>
          <p:cNvPr id="150" name="Google Shape;150;p11"/>
          <p:cNvSpPr txBox="1"/>
          <p:nvPr/>
        </p:nvSpPr>
        <p:spPr>
          <a:xfrm>
            <a:off x="5943600" y="2075688"/>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18  </a:t>
            </a:r>
            <a:r>
              <a:rPr b="0" i="0" lang="en-US" sz="1400" u="none" cap="none" strike="noStrike">
                <a:solidFill>
                  <a:srgbClr val="1A1A2E"/>
                </a:solidFill>
                <a:latin typeface="Calibri"/>
                <a:ea typeface="Calibri"/>
                <a:cs typeface="Calibri"/>
                <a:sym typeface="Calibri"/>
              </a:rPr>
              <a:t>RFID SCK</a:t>
            </a:r>
            <a:endParaRPr b="0" i="0" sz="1400" u="none" cap="none" strike="noStrike">
              <a:solidFill>
                <a:schemeClr val="dk1"/>
              </a:solidFill>
              <a:latin typeface="Calibri"/>
              <a:ea typeface="Calibri"/>
              <a:cs typeface="Calibri"/>
              <a:sym typeface="Calibri"/>
            </a:endParaRPr>
          </a:p>
        </p:txBody>
      </p:sp>
      <p:cxnSp>
        <p:nvCxnSpPr>
          <p:cNvPr id="151" name="Google Shape;151;p11"/>
          <p:cNvCxnSpPr/>
          <p:nvPr/>
        </p:nvCxnSpPr>
        <p:spPr>
          <a:xfrm>
            <a:off x="5852160" y="2679192"/>
            <a:ext cx="91440" cy="0"/>
          </a:xfrm>
          <a:prstGeom prst="straightConnector1">
            <a:avLst/>
          </a:prstGeom>
          <a:noFill/>
          <a:ln cap="flat" cmpd="sng" w="19050">
            <a:solidFill>
              <a:srgbClr val="3B7CF4"/>
            </a:solidFill>
            <a:prstDash val="solid"/>
            <a:round/>
            <a:headEnd len="sm" w="sm" type="none"/>
            <a:tailEnd len="sm" w="sm" type="none"/>
          </a:ln>
        </p:spPr>
      </p:cxnSp>
      <p:sp>
        <p:nvSpPr>
          <p:cNvPr id="152" name="Google Shape;152;p11"/>
          <p:cNvSpPr txBox="1"/>
          <p:nvPr/>
        </p:nvSpPr>
        <p:spPr>
          <a:xfrm>
            <a:off x="5943600" y="2496312"/>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27  </a:t>
            </a:r>
            <a:r>
              <a:rPr b="0" i="0" lang="en-US" sz="1400" u="none" cap="none" strike="noStrike">
                <a:solidFill>
                  <a:srgbClr val="1A1A2E"/>
                </a:solidFill>
                <a:latin typeface="Calibri"/>
                <a:ea typeface="Calibri"/>
                <a:cs typeface="Calibri"/>
                <a:sym typeface="Calibri"/>
              </a:rPr>
              <a:t>Buzzer</a:t>
            </a:r>
            <a:endParaRPr b="0" i="0" sz="1400" u="none" cap="none" strike="noStrike">
              <a:solidFill>
                <a:schemeClr val="dk1"/>
              </a:solidFill>
              <a:latin typeface="Calibri"/>
              <a:ea typeface="Calibri"/>
              <a:cs typeface="Calibri"/>
              <a:sym typeface="Calibri"/>
            </a:endParaRPr>
          </a:p>
        </p:txBody>
      </p:sp>
      <p:cxnSp>
        <p:nvCxnSpPr>
          <p:cNvPr id="153" name="Google Shape;153;p11"/>
          <p:cNvCxnSpPr/>
          <p:nvPr/>
        </p:nvCxnSpPr>
        <p:spPr>
          <a:xfrm>
            <a:off x="5852160" y="3099816"/>
            <a:ext cx="91440" cy="0"/>
          </a:xfrm>
          <a:prstGeom prst="straightConnector1">
            <a:avLst/>
          </a:prstGeom>
          <a:noFill/>
          <a:ln cap="flat" cmpd="sng" w="19050">
            <a:solidFill>
              <a:srgbClr val="3B7CF4"/>
            </a:solidFill>
            <a:prstDash val="solid"/>
            <a:round/>
            <a:headEnd len="sm" w="sm" type="none"/>
            <a:tailEnd len="sm" w="sm" type="none"/>
          </a:ln>
        </p:spPr>
      </p:cxnSp>
      <p:sp>
        <p:nvSpPr>
          <p:cNvPr id="154" name="Google Shape;154;p11"/>
          <p:cNvSpPr txBox="1"/>
          <p:nvPr/>
        </p:nvSpPr>
        <p:spPr>
          <a:xfrm>
            <a:off x="5943600" y="2916936"/>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34  </a:t>
            </a:r>
            <a:r>
              <a:rPr b="0" i="0" lang="en-US" sz="1400" u="none" cap="none" strike="noStrike">
                <a:solidFill>
                  <a:srgbClr val="1A1A2E"/>
                </a:solidFill>
                <a:latin typeface="Calibri"/>
                <a:ea typeface="Calibri"/>
                <a:cs typeface="Calibri"/>
                <a:sym typeface="Calibri"/>
              </a:rPr>
              <a:t>IR north</a:t>
            </a:r>
            <a:endParaRPr b="0" i="0" sz="1400" u="none" cap="none" strike="noStrike">
              <a:solidFill>
                <a:schemeClr val="dk1"/>
              </a:solidFill>
              <a:latin typeface="Calibri"/>
              <a:ea typeface="Calibri"/>
              <a:cs typeface="Calibri"/>
              <a:sym typeface="Calibri"/>
            </a:endParaRPr>
          </a:p>
        </p:txBody>
      </p:sp>
      <p:cxnSp>
        <p:nvCxnSpPr>
          <p:cNvPr id="155" name="Google Shape;155;p11"/>
          <p:cNvCxnSpPr/>
          <p:nvPr/>
        </p:nvCxnSpPr>
        <p:spPr>
          <a:xfrm>
            <a:off x="5852160" y="3520440"/>
            <a:ext cx="91440" cy="0"/>
          </a:xfrm>
          <a:prstGeom prst="straightConnector1">
            <a:avLst/>
          </a:prstGeom>
          <a:noFill/>
          <a:ln cap="flat" cmpd="sng" w="19050">
            <a:solidFill>
              <a:srgbClr val="3B7CF4"/>
            </a:solidFill>
            <a:prstDash val="solid"/>
            <a:round/>
            <a:headEnd len="sm" w="sm" type="none"/>
            <a:tailEnd len="sm" w="sm" type="none"/>
          </a:ln>
        </p:spPr>
      </p:cxnSp>
      <p:sp>
        <p:nvSpPr>
          <p:cNvPr id="156" name="Google Shape;156;p11"/>
          <p:cNvSpPr txBox="1"/>
          <p:nvPr/>
        </p:nvSpPr>
        <p:spPr>
          <a:xfrm>
            <a:off x="5943600" y="333756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35  </a:t>
            </a:r>
            <a:r>
              <a:rPr b="0" i="0" lang="en-US" sz="1400" u="none" cap="none" strike="noStrike">
                <a:solidFill>
                  <a:srgbClr val="1A1A2E"/>
                </a:solidFill>
                <a:latin typeface="Calibri"/>
                <a:ea typeface="Calibri"/>
                <a:cs typeface="Calibri"/>
                <a:sym typeface="Calibri"/>
              </a:rPr>
              <a:t>IR east</a:t>
            </a:r>
            <a:endParaRPr b="0" i="0" sz="1400" u="none" cap="none" strike="noStrike">
              <a:solidFill>
                <a:schemeClr val="dk1"/>
              </a:solidFill>
              <a:latin typeface="Calibri"/>
              <a:ea typeface="Calibri"/>
              <a:cs typeface="Calibri"/>
              <a:sym typeface="Calibri"/>
            </a:endParaRPr>
          </a:p>
        </p:txBody>
      </p:sp>
      <p:cxnSp>
        <p:nvCxnSpPr>
          <p:cNvPr id="157" name="Google Shape;157;p11"/>
          <p:cNvCxnSpPr/>
          <p:nvPr/>
        </p:nvCxnSpPr>
        <p:spPr>
          <a:xfrm>
            <a:off x="5852160" y="3941064"/>
            <a:ext cx="91440" cy="0"/>
          </a:xfrm>
          <a:prstGeom prst="straightConnector1">
            <a:avLst/>
          </a:prstGeom>
          <a:noFill/>
          <a:ln cap="flat" cmpd="sng" w="19050">
            <a:solidFill>
              <a:srgbClr val="3B7CF4"/>
            </a:solidFill>
            <a:prstDash val="solid"/>
            <a:round/>
            <a:headEnd len="sm" w="sm" type="none"/>
            <a:tailEnd len="sm" w="sm" type="none"/>
          </a:ln>
        </p:spPr>
      </p:cxnSp>
      <p:sp>
        <p:nvSpPr>
          <p:cNvPr id="158" name="Google Shape;158;p11"/>
          <p:cNvSpPr txBox="1"/>
          <p:nvPr/>
        </p:nvSpPr>
        <p:spPr>
          <a:xfrm>
            <a:off x="5943600" y="3758184"/>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32  </a:t>
            </a:r>
            <a:r>
              <a:rPr b="0" i="0" lang="en-US" sz="1400" u="none" cap="none" strike="noStrike">
                <a:solidFill>
                  <a:srgbClr val="1A1A2E"/>
                </a:solidFill>
                <a:latin typeface="Calibri"/>
                <a:ea typeface="Calibri"/>
                <a:cs typeface="Calibri"/>
                <a:sym typeface="Calibri"/>
              </a:rPr>
              <a:t>IR south</a:t>
            </a:r>
            <a:endParaRPr b="0" i="0" sz="1400" u="none" cap="none" strike="noStrike">
              <a:solidFill>
                <a:schemeClr val="dk1"/>
              </a:solidFill>
              <a:latin typeface="Calibri"/>
              <a:ea typeface="Calibri"/>
              <a:cs typeface="Calibri"/>
              <a:sym typeface="Calibri"/>
            </a:endParaRPr>
          </a:p>
        </p:txBody>
      </p:sp>
      <p:cxnSp>
        <p:nvCxnSpPr>
          <p:cNvPr id="159" name="Google Shape;159;p11"/>
          <p:cNvCxnSpPr/>
          <p:nvPr/>
        </p:nvCxnSpPr>
        <p:spPr>
          <a:xfrm>
            <a:off x="5852160" y="4361688"/>
            <a:ext cx="91440" cy="0"/>
          </a:xfrm>
          <a:prstGeom prst="straightConnector1">
            <a:avLst/>
          </a:prstGeom>
          <a:noFill/>
          <a:ln cap="flat" cmpd="sng" w="19050">
            <a:solidFill>
              <a:srgbClr val="3B7CF4"/>
            </a:solidFill>
            <a:prstDash val="solid"/>
            <a:round/>
            <a:headEnd len="sm" w="sm" type="none"/>
            <a:tailEnd len="sm" w="sm" type="none"/>
          </a:ln>
        </p:spPr>
      </p:cxnSp>
      <p:sp>
        <p:nvSpPr>
          <p:cNvPr id="160" name="Google Shape;160;p11"/>
          <p:cNvSpPr txBox="1"/>
          <p:nvPr/>
        </p:nvSpPr>
        <p:spPr>
          <a:xfrm>
            <a:off x="5943600" y="4178808"/>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7CF4"/>
              </a:buClr>
              <a:buSzPts val="1400"/>
              <a:buFont typeface="Calibri"/>
              <a:buNone/>
            </a:pPr>
            <a:r>
              <a:rPr b="1" i="0" lang="en-US" sz="1400" u="none" cap="none" strike="noStrike">
                <a:solidFill>
                  <a:srgbClr val="3B7CF4"/>
                </a:solidFill>
                <a:latin typeface="Calibri"/>
                <a:ea typeface="Calibri"/>
                <a:cs typeface="Calibri"/>
                <a:sym typeface="Calibri"/>
              </a:rPr>
              <a:t>GPIO 33  </a:t>
            </a:r>
            <a:r>
              <a:rPr b="0" i="0" lang="en-US" sz="1400" u="none" cap="none" strike="noStrike">
                <a:solidFill>
                  <a:srgbClr val="1A1A2E"/>
                </a:solidFill>
                <a:latin typeface="Calibri"/>
                <a:ea typeface="Calibri"/>
                <a:cs typeface="Calibri"/>
                <a:sym typeface="Calibri"/>
              </a:rPr>
              <a:t>IR west</a:t>
            </a:r>
            <a:endParaRPr b="0" i="0" sz="1400" u="none" cap="none" strike="noStrike">
              <a:solidFill>
                <a:schemeClr val="dk1"/>
              </a:solidFill>
              <a:latin typeface="Calibri"/>
              <a:ea typeface="Calibri"/>
              <a:cs typeface="Calibri"/>
              <a:sym typeface="Calibri"/>
            </a:endParaRPr>
          </a:p>
        </p:txBody>
      </p:sp>
      <p:sp>
        <p:nvSpPr>
          <p:cNvPr id="161" name="Google Shape;161;p11"/>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12"/>
          <p:cNvPicPr preferRelativeResize="0"/>
          <p:nvPr/>
        </p:nvPicPr>
        <p:blipFill>
          <a:blip r:embed="rId3">
            <a:alphaModFix/>
          </a:blip>
          <a:stretch>
            <a:fillRect/>
          </a:stretch>
        </p:blipFill>
        <p:spPr>
          <a:xfrm>
            <a:off x="1306369" y="102976"/>
            <a:ext cx="6557773" cy="4937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3"/>
          <p:cNvSpPr txBox="1"/>
          <p:nvPr>
            <p:ph type="title"/>
          </p:nvPr>
        </p:nvSpPr>
        <p:spPr>
          <a:xfrm>
            <a:off x="457200" y="384048"/>
            <a:ext cx="8229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lang="en-US"/>
              <a:t>Hardware</a:t>
            </a:r>
            <a:endParaRPr sz="3200"/>
          </a:p>
        </p:txBody>
      </p:sp>
      <p:sp>
        <p:nvSpPr>
          <p:cNvPr id="174" name="Google Shape;174;p13"/>
          <p:cNvSpPr txBox="1"/>
          <p:nvPr>
            <p:ph idx="4294967295" type="sldNum"/>
          </p:nvPr>
        </p:nvSpPr>
        <p:spPr>
          <a:xfrm>
            <a:off x="8229600" y="4754880"/>
            <a:ext cx="457200" cy="27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pic>
        <p:nvPicPr>
          <p:cNvPr id="175" name="Google Shape;175;p13"/>
          <p:cNvPicPr preferRelativeResize="0"/>
          <p:nvPr/>
        </p:nvPicPr>
        <p:blipFill>
          <a:blip r:embed="rId3">
            <a:alphaModFix/>
          </a:blip>
          <a:stretch>
            <a:fillRect/>
          </a:stretch>
        </p:blipFill>
        <p:spPr>
          <a:xfrm rot="-5400000">
            <a:off x="2629449" y="-634571"/>
            <a:ext cx="3968874" cy="70557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4"/>
          <p:cNvSpPr txBox="1"/>
          <p:nvPr>
            <p:ph type="title"/>
          </p:nvPr>
        </p:nvSpPr>
        <p:spPr>
          <a:xfrm>
            <a:off x="457200" y="384048"/>
            <a:ext cx="8229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lang="en-US"/>
              <a:t>Hardware</a:t>
            </a:r>
            <a:endParaRPr sz="3200"/>
          </a:p>
        </p:txBody>
      </p:sp>
      <p:pic>
        <p:nvPicPr>
          <p:cNvPr id="182" name="Google Shape;182;p14"/>
          <p:cNvPicPr preferRelativeResize="0"/>
          <p:nvPr/>
        </p:nvPicPr>
        <p:blipFill>
          <a:blip r:embed="rId3">
            <a:alphaModFix/>
          </a:blip>
          <a:stretch>
            <a:fillRect/>
          </a:stretch>
        </p:blipFill>
        <p:spPr>
          <a:xfrm>
            <a:off x="1181375" y="978823"/>
            <a:ext cx="6781248" cy="381445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5"/>
          <p:cNvSpPr txBox="1"/>
          <p:nvPr>
            <p:ph type="title"/>
          </p:nvPr>
        </p:nvSpPr>
        <p:spPr>
          <a:xfrm>
            <a:off x="457200" y="384048"/>
            <a:ext cx="8229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lang="en-US"/>
              <a:t>Hardware</a:t>
            </a:r>
            <a:endParaRPr sz="3200"/>
          </a:p>
        </p:txBody>
      </p:sp>
      <p:pic>
        <p:nvPicPr>
          <p:cNvPr id="189" name="Google Shape;189;p15"/>
          <p:cNvPicPr preferRelativeResize="0"/>
          <p:nvPr/>
        </p:nvPicPr>
        <p:blipFill>
          <a:blip r:embed="rId3">
            <a:alphaModFix/>
          </a:blip>
          <a:stretch>
            <a:fillRect/>
          </a:stretch>
        </p:blipFill>
        <p:spPr>
          <a:xfrm>
            <a:off x="1181375" y="1024248"/>
            <a:ext cx="6781248" cy="381445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6"/>
          <p:cNvSpPr txBox="1"/>
          <p:nvPr>
            <p:ph type="title"/>
          </p:nvPr>
        </p:nvSpPr>
        <p:spPr>
          <a:xfrm>
            <a:off x="457200" y="384048"/>
            <a:ext cx="8229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lang="en-US"/>
              <a:t>Hardware</a:t>
            </a:r>
            <a:endParaRPr sz="3200"/>
          </a:p>
        </p:txBody>
      </p:sp>
      <p:pic>
        <p:nvPicPr>
          <p:cNvPr id="196" name="Google Shape;196;p16"/>
          <p:cNvPicPr preferRelativeResize="0"/>
          <p:nvPr/>
        </p:nvPicPr>
        <p:blipFill>
          <a:blip r:embed="rId3">
            <a:alphaModFix/>
          </a:blip>
          <a:stretch>
            <a:fillRect/>
          </a:stretch>
        </p:blipFill>
        <p:spPr>
          <a:xfrm>
            <a:off x="1210550" y="1024248"/>
            <a:ext cx="6781248" cy="381445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txBox="1"/>
          <p:nvPr>
            <p:ph type="title"/>
          </p:nvPr>
        </p:nvSpPr>
        <p:spPr>
          <a:xfrm>
            <a:off x="457200" y="384048"/>
            <a:ext cx="822960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b="1" lang="en-US" sz="3200">
                <a:solidFill>
                  <a:srgbClr val="1A1A2E"/>
                </a:solidFill>
                <a:latin typeface="Calibri"/>
                <a:ea typeface="Calibri"/>
                <a:cs typeface="Calibri"/>
                <a:sym typeface="Calibri"/>
              </a:rPr>
              <a:t>What We Have Built</a:t>
            </a:r>
            <a:endParaRPr sz="3200"/>
          </a:p>
        </p:txBody>
      </p:sp>
      <p:sp>
        <p:nvSpPr>
          <p:cNvPr id="203" name="Google Shape;203;p17"/>
          <p:cNvSpPr/>
          <p:nvPr/>
        </p:nvSpPr>
        <p:spPr>
          <a:xfrm>
            <a:off x="457200" y="1234440"/>
            <a:ext cx="2560320" cy="1600200"/>
          </a:xfrm>
          <a:prstGeom prst="roundRect">
            <a:avLst>
              <a:gd fmla="val 4571"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txBox="1"/>
          <p:nvPr/>
        </p:nvSpPr>
        <p:spPr>
          <a:xfrm>
            <a:off x="594360" y="1325880"/>
            <a:ext cx="228600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ESP-NOW </a:t>
            </a:r>
            <a:r>
              <a:rPr b="1" lang="en-US" sz="1600">
                <a:solidFill>
                  <a:srgbClr val="1A1A2E"/>
                </a:solidFill>
                <a:latin typeface="Calibri"/>
                <a:ea typeface="Calibri"/>
                <a:cs typeface="Calibri"/>
                <a:sym typeface="Calibri"/>
              </a:rPr>
              <a:t>P2P</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Peer telemetry, RSSI proximity, peer aging</a:t>
            </a:r>
            <a:endParaRPr b="0" i="0" sz="1600" u="none" cap="none" strike="noStrike">
              <a:solidFill>
                <a:schemeClr val="dk1"/>
              </a:solidFill>
              <a:latin typeface="Calibri"/>
              <a:ea typeface="Calibri"/>
              <a:cs typeface="Calibri"/>
              <a:sym typeface="Calibri"/>
            </a:endParaRPr>
          </a:p>
        </p:txBody>
      </p:sp>
      <p:sp>
        <p:nvSpPr>
          <p:cNvPr id="205" name="Google Shape;205;p17"/>
          <p:cNvSpPr/>
          <p:nvPr/>
        </p:nvSpPr>
        <p:spPr>
          <a:xfrm>
            <a:off x="3291840" y="1234440"/>
            <a:ext cx="2560320" cy="1600200"/>
          </a:xfrm>
          <a:prstGeom prst="roundRect">
            <a:avLst>
              <a:gd fmla="val 4571"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7"/>
          <p:cNvSpPr txBox="1"/>
          <p:nvPr/>
        </p:nvSpPr>
        <p:spPr>
          <a:xfrm>
            <a:off x="3429000" y="1325880"/>
            <a:ext cx="228600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Dynamic Identity</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One firmware; numbers from hardware UID</a:t>
            </a:r>
            <a:endParaRPr b="0" i="0" sz="1600" u="none" cap="none" strike="noStrike">
              <a:solidFill>
                <a:schemeClr val="dk1"/>
              </a:solidFill>
              <a:latin typeface="Calibri"/>
              <a:ea typeface="Calibri"/>
              <a:cs typeface="Calibri"/>
              <a:sym typeface="Calibri"/>
            </a:endParaRPr>
          </a:p>
        </p:txBody>
      </p:sp>
      <p:sp>
        <p:nvSpPr>
          <p:cNvPr id="207" name="Google Shape;207;p17"/>
          <p:cNvSpPr/>
          <p:nvPr/>
        </p:nvSpPr>
        <p:spPr>
          <a:xfrm>
            <a:off x="6126480" y="1234440"/>
            <a:ext cx="2560320" cy="1600200"/>
          </a:xfrm>
          <a:prstGeom prst="roundRect">
            <a:avLst>
              <a:gd fmla="val 4571"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7"/>
          <p:cNvSpPr txBox="1"/>
          <p:nvPr/>
        </p:nvSpPr>
        <p:spPr>
          <a:xfrm>
            <a:off x="6263640" y="1325880"/>
            <a:ext cx="228600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Gateway Election</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Lowest UID hosts hotspot + dashboard</a:t>
            </a:r>
            <a:endParaRPr b="0" i="0" sz="1600" u="none" cap="none" strike="noStrike">
              <a:solidFill>
                <a:schemeClr val="dk1"/>
              </a:solidFill>
              <a:latin typeface="Calibri"/>
              <a:ea typeface="Calibri"/>
              <a:cs typeface="Calibri"/>
              <a:sym typeface="Calibri"/>
            </a:endParaRPr>
          </a:p>
        </p:txBody>
      </p:sp>
      <p:sp>
        <p:nvSpPr>
          <p:cNvPr id="209" name="Google Shape;209;p17"/>
          <p:cNvSpPr/>
          <p:nvPr/>
        </p:nvSpPr>
        <p:spPr>
          <a:xfrm>
            <a:off x="457200" y="3063240"/>
            <a:ext cx="2560320" cy="1600200"/>
          </a:xfrm>
          <a:prstGeom prst="roundRect">
            <a:avLst>
              <a:gd fmla="val 4571"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7"/>
          <p:cNvSpPr txBox="1"/>
          <p:nvPr/>
        </p:nvSpPr>
        <p:spPr>
          <a:xfrm>
            <a:off x="594360" y="3154680"/>
            <a:ext cx="228600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RFID + IR Sensing</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Instrument scans, debounced face occupancy</a:t>
            </a:r>
            <a:endParaRPr b="0" i="0" sz="1600" u="none" cap="none" strike="noStrike">
              <a:solidFill>
                <a:schemeClr val="dk1"/>
              </a:solidFill>
              <a:latin typeface="Calibri"/>
              <a:ea typeface="Calibri"/>
              <a:cs typeface="Calibri"/>
              <a:sym typeface="Calibri"/>
            </a:endParaRPr>
          </a:p>
        </p:txBody>
      </p:sp>
      <p:sp>
        <p:nvSpPr>
          <p:cNvPr id="211" name="Google Shape;211;p17"/>
          <p:cNvSpPr/>
          <p:nvPr/>
        </p:nvSpPr>
        <p:spPr>
          <a:xfrm>
            <a:off x="3291840" y="3063240"/>
            <a:ext cx="2560320" cy="1600200"/>
          </a:xfrm>
          <a:prstGeom prst="roundRect">
            <a:avLst>
              <a:gd fmla="val 4571"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7"/>
          <p:cNvSpPr txBox="1"/>
          <p:nvPr/>
        </p:nvSpPr>
        <p:spPr>
          <a:xfrm>
            <a:off x="3429000" y="3154680"/>
            <a:ext cx="228600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Gyro Yaw Tracking</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Aligned-start bias calibration, relative heading</a:t>
            </a:r>
            <a:endParaRPr b="0" i="0" sz="1600" u="none" cap="none" strike="noStrike">
              <a:solidFill>
                <a:schemeClr val="dk1"/>
              </a:solidFill>
              <a:latin typeface="Calibri"/>
              <a:ea typeface="Calibri"/>
              <a:cs typeface="Calibri"/>
              <a:sym typeface="Calibri"/>
            </a:endParaRPr>
          </a:p>
        </p:txBody>
      </p:sp>
      <p:sp>
        <p:nvSpPr>
          <p:cNvPr id="213" name="Google Shape;213;p17"/>
          <p:cNvSpPr/>
          <p:nvPr/>
        </p:nvSpPr>
        <p:spPr>
          <a:xfrm>
            <a:off x="6126480" y="3063240"/>
            <a:ext cx="2560320" cy="1600200"/>
          </a:xfrm>
          <a:prstGeom prst="roundRect">
            <a:avLst>
              <a:gd fmla="val 4571"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7"/>
          <p:cNvSpPr txBox="1"/>
          <p:nvPr/>
        </p:nvSpPr>
        <p:spPr>
          <a:xfrm>
            <a:off x="6263640" y="3154680"/>
            <a:ext cx="228600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2D Layout Solver</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1A2E"/>
              </a:buClr>
              <a:buSzPts val="1400"/>
              <a:buFont typeface="Calibri"/>
              <a:buNone/>
            </a:pPr>
            <a:r>
              <a:rPr b="0" i="0" lang="en-US" sz="1400" u="none" cap="none" strike="noStrike">
                <a:solidFill>
                  <a:srgbClr val="1A1A2E"/>
                </a:solidFill>
                <a:latin typeface="Calibri"/>
                <a:ea typeface="Calibri"/>
                <a:cs typeface="Calibri"/>
                <a:sym typeface="Calibri"/>
              </a:rPr>
              <a:t>Verified on 2x2, 1x4 and rotated grids</a:t>
            </a:r>
            <a:endParaRPr b="0" i="0" sz="1600" u="none" cap="none" strike="noStrike">
              <a:solidFill>
                <a:schemeClr val="dk1"/>
              </a:solidFill>
              <a:latin typeface="Calibri"/>
              <a:ea typeface="Calibri"/>
              <a:cs typeface="Calibri"/>
              <a:sym typeface="Calibri"/>
            </a:endParaRPr>
          </a:p>
        </p:txBody>
      </p:sp>
      <p:sp>
        <p:nvSpPr>
          <p:cNvPr id="215" name="Google Shape;215;p17"/>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8"/>
          <p:cNvSpPr txBox="1"/>
          <p:nvPr>
            <p:ph type="title"/>
          </p:nvPr>
        </p:nvSpPr>
        <p:spPr>
          <a:xfrm>
            <a:off x="457200" y="509998"/>
            <a:ext cx="8229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lang="en-US" sz="7300"/>
              <a:t>Demonstration</a:t>
            </a:r>
            <a:endParaRPr sz="7300"/>
          </a:p>
        </p:txBody>
      </p:sp>
      <p:sp>
        <p:nvSpPr>
          <p:cNvPr id="222" name="Google Shape;222;p18"/>
          <p:cNvSpPr txBox="1"/>
          <p:nvPr>
            <p:ph idx="4294967295" type="sldNum"/>
          </p:nvPr>
        </p:nvSpPr>
        <p:spPr>
          <a:xfrm>
            <a:off x="8229600" y="4754880"/>
            <a:ext cx="457200" cy="27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sp>
        <p:nvSpPr>
          <p:cNvPr id="223" name="Google Shape;223;p18"/>
          <p:cNvSpPr txBox="1"/>
          <p:nvPr/>
        </p:nvSpPr>
        <p:spPr>
          <a:xfrm>
            <a:off x="3697050" y="2371650"/>
            <a:ext cx="174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http://192.168.4.1/</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9"/>
          <p:cNvSpPr txBox="1"/>
          <p:nvPr>
            <p:ph type="title"/>
          </p:nvPr>
        </p:nvSpPr>
        <p:spPr>
          <a:xfrm>
            <a:off x="457200" y="384048"/>
            <a:ext cx="822960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b="1" lang="en-US" sz="3200">
                <a:solidFill>
                  <a:srgbClr val="1A1A2E"/>
                </a:solidFill>
                <a:latin typeface="Calibri"/>
                <a:ea typeface="Calibri"/>
                <a:cs typeface="Calibri"/>
                <a:sym typeface="Calibri"/>
              </a:rPr>
              <a:t>Project Status</a:t>
            </a:r>
            <a:endParaRPr sz="3200"/>
          </a:p>
        </p:txBody>
      </p:sp>
      <p:sp>
        <p:nvSpPr>
          <p:cNvPr id="230" name="Google Shape;230;p19"/>
          <p:cNvSpPr/>
          <p:nvPr/>
        </p:nvSpPr>
        <p:spPr>
          <a:xfrm>
            <a:off x="457200" y="1234440"/>
            <a:ext cx="3657600" cy="3291840"/>
          </a:xfrm>
          <a:prstGeom prst="roundRect">
            <a:avLst>
              <a:gd fmla="val 2222" name="adj"/>
            </a:avLst>
          </a:prstGeom>
          <a:solidFill>
            <a:srgbClr val="EAF1FE"/>
          </a:solidFill>
          <a:ln cap="flat" cmpd="sng" w="12700">
            <a:solidFill>
              <a:srgbClr val="EAF1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9"/>
          <p:cNvSpPr txBox="1"/>
          <p:nvPr/>
        </p:nvSpPr>
        <p:spPr>
          <a:xfrm>
            <a:off x="594360" y="1325880"/>
            <a:ext cx="338328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Current Status</a:t>
            </a:r>
            <a:endParaRPr b="0" i="0" sz="1600" u="none" cap="none" strike="noStrike">
              <a:solidFill>
                <a:schemeClr val="dk1"/>
              </a:solidFill>
              <a:latin typeface="Calibri"/>
              <a:ea typeface="Calibri"/>
              <a:cs typeface="Calibri"/>
              <a:sym typeface="Calibri"/>
            </a:endParaRPr>
          </a:p>
        </p:txBody>
      </p:sp>
      <p:sp>
        <p:nvSpPr>
          <p:cNvPr id="232" name="Google Shape;232;p19"/>
          <p:cNvSpPr txBox="1"/>
          <p:nvPr/>
        </p:nvSpPr>
        <p:spPr>
          <a:xfrm>
            <a:off x="594360" y="1737360"/>
            <a:ext cx="3383280" cy="26517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2E"/>
              </a:buClr>
              <a:buSzPts val="1400"/>
              <a:buFont typeface="Calibri"/>
              <a:buChar char="•"/>
            </a:pPr>
            <a:r>
              <a:rPr b="0" i="0" lang="en-US" sz="1400" u="none" cap="none" strike="noStrike">
                <a:solidFill>
                  <a:srgbClr val="1A1A2E"/>
                </a:solidFill>
                <a:latin typeface="Calibri"/>
                <a:ea typeface="Calibri"/>
                <a:cs typeface="Calibri"/>
                <a:sym typeface="Calibri"/>
              </a:rPr>
              <a:t>Unified firmware, identical on every brick</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400"/>
              <a:buFont typeface="Calibri"/>
              <a:buChar char="•"/>
            </a:pPr>
            <a:r>
              <a:rPr lang="en-US">
                <a:solidFill>
                  <a:srgbClr val="1A1A2E"/>
                </a:solidFill>
                <a:latin typeface="Calibri"/>
                <a:ea typeface="Calibri"/>
                <a:cs typeface="Calibri"/>
                <a:sym typeface="Calibri"/>
              </a:rPr>
              <a:t>Peer-to-Peer</a:t>
            </a:r>
            <a:r>
              <a:rPr b="0" i="0" lang="en-US" sz="1400" u="none" cap="none" strike="noStrike">
                <a:solidFill>
                  <a:srgbClr val="1A1A2E"/>
                </a:solidFill>
                <a:latin typeface="Calibri"/>
                <a:ea typeface="Calibri"/>
                <a:cs typeface="Calibri"/>
                <a:sym typeface="Calibri"/>
              </a:rPr>
              <a:t> gateway election and dashboard implemented</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400"/>
              <a:buFont typeface="Calibri"/>
              <a:buChar char="•"/>
            </a:pPr>
            <a:r>
              <a:rPr b="0" i="0" lang="en-US" sz="1400" u="none" cap="none" strike="noStrike">
                <a:solidFill>
                  <a:srgbClr val="1A1A2E"/>
                </a:solidFill>
                <a:latin typeface="Calibri"/>
                <a:ea typeface="Calibri"/>
                <a:cs typeface="Calibri"/>
                <a:sym typeface="Calibri"/>
              </a:rPr>
              <a:t>Layout and yaw logic verified in host test suites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400"/>
              <a:buFont typeface="Calibri"/>
              <a:buChar char="•"/>
            </a:pPr>
            <a:r>
              <a:rPr b="0" i="0" lang="en-US" sz="1400" u="none" cap="none" strike="noStrike">
                <a:solidFill>
                  <a:srgbClr val="1A1A2E"/>
                </a:solidFill>
                <a:latin typeface="Calibri"/>
                <a:ea typeface="Calibri"/>
                <a:cs typeface="Calibri"/>
                <a:sym typeface="Calibri"/>
              </a:rPr>
              <a:t>Hardware acceptance testing in progress</a:t>
            </a:r>
            <a:endParaRPr b="0" i="0" sz="1400" u="none" cap="none" strike="noStrike">
              <a:solidFill>
                <a:schemeClr val="dk1"/>
              </a:solidFill>
              <a:latin typeface="Calibri"/>
              <a:ea typeface="Calibri"/>
              <a:cs typeface="Calibri"/>
              <a:sym typeface="Calibri"/>
            </a:endParaRPr>
          </a:p>
        </p:txBody>
      </p:sp>
      <p:sp>
        <p:nvSpPr>
          <p:cNvPr id="233" name="Google Shape;233;p19"/>
          <p:cNvSpPr txBox="1"/>
          <p:nvPr/>
        </p:nvSpPr>
        <p:spPr>
          <a:xfrm>
            <a:off x="4389120" y="1234440"/>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Challenges and Mitigations</a:t>
            </a:r>
            <a:endParaRPr b="0" i="0" sz="1600" u="none" cap="none" strike="noStrike">
              <a:solidFill>
                <a:schemeClr val="dk1"/>
              </a:solidFill>
              <a:latin typeface="Calibri"/>
              <a:ea typeface="Calibri"/>
              <a:cs typeface="Calibri"/>
              <a:sym typeface="Calibri"/>
            </a:endParaRPr>
          </a:p>
        </p:txBody>
      </p:sp>
      <p:sp>
        <p:nvSpPr>
          <p:cNvPr id="234" name="Google Shape;234;p19"/>
          <p:cNvSpPr txBox="1"/>
          <p:nvPr/>
        </p:nvSpPr>
        <p:spPr>
          <a:xfrm>
            <a:off x="4389120" y="1691640"/>
            <a:ext cx="1645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Calibri"/>
              <a:buNone/>
            </a:pPr>
            <a:r>
              <a:rPr b="1" i="0" lang="en-US" sz="1400" u="none" cap="none" strike="noStrike">
                <a:solidFill>
                  <a:srgbClr val="1A1A2E"/>
                </a:solidFill>
                <a:latin typeface="Calibri"/>
                <a:ea typeface="Calibri"/>
                <a:cs typeface="Calibri"/>
                <a:sym typeface="Calibri"/>
              </a:rPr>
              <a:t>Gyro drift</a:t>
            </a:r>
            <a:endParaRPr b="0" i="0" sz="1400" u="none" cap="none" strike="noStrike">
              <a:solidFill>
                <a:schemeClr val="dk1"/>
              </a:solidFill>
              <a:latin typeface="Calibri"/>
              <a:ea typeface="Calibri"/>
              <a:cs typeface="Calibri"/>
              <a:sym typeface="Calibri"/>
            </a:endParaRPr>
          </a:p>
        </p:txBody>
      </p:sp>
      <p:sp>
        <p:nvSpPr>
          <p:cNvPr id="235" name="Google Shape;235;p19"/>
          <p:cNvSpPr txBox="1"/>
          <p:nvPr/>
        </p:nvSpPr>
        <p:spPr>
          <a:xfrm>
            <a:off x="6035040" y="1691640"/>
            <a:ext cx="26517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Realign </a:t>
            </a:r>
            <a:r>
              <a:rPr lang="en-US">
                <a:solidFill>
                  <a:srgbClr val="5A6272"/>
                </a:solidFill>
                <a:latin typeface="Calibri"/>
                <a:ea typeface="Calibri"/>
                <a:cs typeface="Calibri"/>
                <a:sym typeface="Calibri"/>
              </a:rPr>
              <a:t>+ </a:t>
            </a:r>
            <a:r>
              <a:rPr b="0" i="0" lang="en-US" sz="1400" u="none" cap="none" strike="noStrike">
                <a:solidFill>
                  <a:srgbClr val="5A6272"/>
                </a:solidFill>
                <a:latin typeface="Calibri"/>
                <a:ea typeface="Calibri"/>
                <a:cs typeface="Calibri"/>
                <a:sym typeface="Calibri"/>
              </a:rPr>
              <a:t>tracking-lost state</a:t>
            </a:r>
            <a:endParaRPr b="0" i="0" sz="1400" u="none" cap="none" strike="noStrike">
              <a:solidFill>
                <a:schemeClr val="dk1"/>
              </a:solidFill>
              <a:latin typeface="Calibri"/>
              <a:ea typeface="Calibri"/>
              <a:cs typeface="Calibri"/>
              <a:sym typeface="Calibri"/>
            </a:endParaRPr>
          </a:p>
        </p:txBody>
      </p:sp>
      <p:sp>
        <p:nvSpPr>
          <p:cNvPr id="236" name="Google Shape;236;p19"/>
          <p:cNvSpPr txBox="1"/>
          <p:nvPr/>
        </p:nvSpPr>
        <p:spPr>
          <a:xfrm>
            <a:off x="4389120" y="2404872"/>
            <a:ext cx="1645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Calibri"/>
              <a:buNone/>
            </a:pPr>
            <a:r>
              <a:rPr b="1" i="0" lang="en-US" sz="1400" u="none" cap="none" strike="noStrike">
                <a:solidFill>
                  <a:srgbClr val="1A1A2E"/>
                </a:solidFill>
                <a:latin typeface="Calibri"/>
                <a:ea typeface="Calibri"/>
                <a:cs typeface="Calibri"/>
                <a:sym typeface="Calibri"/>
              </a:rPr>
              <a:t>Ambiguous layouts</a:t>
            </a:r>
            <a:endParaRPr b="0" i="0" sz="1400" u="none" cap="none" strike="noStrike">
              <a:solidFill>
                <a:schemeClr val="dk1"/>
              </a:solidFill>
              <a:latin typeface="Calibri"/>
              <a:ea typeface="Calibri"/>
              <a:cs typeface="Calibri"/>
              <a:sym typeface="Calibri"/>
            </a:endParaRPr>
          </a:p>
        </p:txBody>
      </p:sp>
      <p:sp>
        <p:nvSpPr>
          <p:cNvPr id="237" name="Google Shape;237;p19"/>
          <p:cNvSpPr txBox="1"/>
          <p:nvPr/>
        </p:nvSpPr>
        <p:spPr>
          <a:xfrm>
            <a:off x="6035040" y="2404872"/>
            <a:ext cx="26517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Candidate list + operator confirm</a:t>
            </a:r>
            <a:endParaRPr b="0" i="0" sz="1400" u="none" cap="none" strike="noStrike">
              <a:solidFill>
                <a:schemeClr val="dk1"/>
              </a:solidFill>
              <a:latin typeface="Calibri"/>
              <a:ea typeface="Calibri"/>
              <a:cs typeface="Calibri"/>
              <a:sym typeface="Calibri"/>
            </a:endParaRPr>
          </a:p>
        </p:txBody>
      </p:sp>
      <p:sp>
        <p:nvSpPr>
          <p:cNvPr id="238" name="Google Shape;238;p19"/>
          <p:cNvSpPr txBox="1"/>
          <p:nvPr/>
        </p:nvSpPr>
        <p:spPr>
          <a:xfrm>
            <a:off x="4389120" y="3118104"/>
            <a:ext cx="1645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Calibri"/>
              <a:buNone/>
            </a:pPr>
            <a:r>
              <a:rPr b="1" i="0" lang="en-US" sz="1400" u="none" cap="none" strike="noStrike">
                <a:solidFill>
                  <a:srgbClr val="1A1A2E"/>
                </a:solidFill>
                <a:latin typeface="Calibri"/>
                <a:ea typeface="Calibri"/>
                <a:cs typeface="Calibri"/>
                <a:sym typeface="Calibri"/>
              </a:rPr>
              <a:t>Power distribution</a:t>
            </a:r>
            <a:endParaRPr b="0" i="0" sz="1400" u="none" cap="none" strike="noStrike">
              <a:solidFill>
                <a:schemeClr val="dk1"/>
              </a:solidFill>
              <a:latin typeface="Calibri"/>
              <a:ea typeface="Calibri"/>
              <a:cs typeface="Calibri"/>
              <a:sym typeface="Calibri"/>
            </a:endParaRPr>
          </a:p>
        </p:txBody>
      </p:sp>
      <p:sp>
        <p:nvSpPr>
          <p:cNvPr id="239" name="Google Shape;239;p19"/>
          <p:cNvSpPr txBox="1"/>
          <p:nvPr/>
        </p:nvSpPr>
        <p:spPr>
          <a:xfrm>
            <a:off x="6035040" y="3118104"/>
            <a:ext cx="26517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272"/>
              </a:buClr>
              <a:buSzPts val="1400"/>
              <a:buFont typeface="Calibri"/>
              <a:buNone/>
            </a:pPr>
            <a:r>
              <a:rPr lang="en-US">
                <a:solidFill>
                  <a:srgbClr val="5A6272"/>
                </a:solidFill>
                <a:latin typeface="Calibri"/>
                <a:ea typeface="Calibri"/>
                <a:cs typeface="Calibri"/>
                <a:sym typeface="Calibri"/>
              </a:rPr>
              <a:t>Standard USB C</a:t>
            </a:r>
            <a:endParaRPr b="0" i="0" sz="1400" u="none" cap="none" strike="noStrike">
              <a:solidFill>
                <a:schemeClr val="dk1"/>
              </a:solidFill>
              <a:latin typeface="Calibri"/>
              <a:ea typeface="Calibri"/>
              <a:cs typeface="Calibri"/>
              <a:sym typeface="Calibri"/>
            </a:endParaRPr>
          </a:p>
        </p:txBody>
      </p:sp>
      <p:sp>
        <p:nvSpPr>
          <p:cNvPr id="240" name="Google Shape;240;p19"/>
          <p:cNvSpPr txBox="1"/>
          <p:nvPr/>
        </p:nvSpPr>
        <p:spPr>
          <a:xfrm>
            <a:off x="4389120" y="3831336"/>
            <a:ext cx="1645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Calibri"/>
              <a:buNone/>
            </a:pPr>
            <a:r>
              <a:rPr b="1" i="0" lang="en-US" sz="1400" u="none" cap="none" strike="noStrike">
                <a:solidFill>
                  <a:srgbClr val="1A1A2E"/>
                </a:solidFill>
                <a:latin typeface="Calibri"/>
                <a:ea typeface="Calibri"/>
                <a:cs typeface="Calibri"/>
                <a:sym typeface="Calibri"/>
              </a:rPr>
              <a:t>Instrument presence</a:t>
            </a:r>
            <a:endParaRPr b="0" i="0" sz="1400" u="none" cap="none" strike="noStrike">
              <a:solidFill>
                <a:schemeClr val="dk1"/>
              </a:solidFill>
              <a:latin typeface="Calibri"/>
              <a:ea typeface="Calibri"/>
              <a:cs typeface="Calibri"/>
              <a:sym typeface="Calibri"/>
            </a:endParaRPr>
          </a:p>
        </p:txBody>
      </p:sp>
      <p:sp>
        <p:nvSpPr>
          <p:cNvPr id="241" name="Google Shape;241;p19"/>
          <p:cNvSpPr txBox="1"/>
          <p:nvPr/>
        </p:nvSpPr>
        <p:spPr>
          <a:xfrm>
            <a:off x="6035040" y="3831336"/>
            <a:ext cx="26517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Last-scan only; continuous check open</a:t>
            </a:r>
            <a:endParaRPr b="0" i="0" sz="1400" u="none" cap="none" strike="noStrike">
              <a:solidFill>
                <a:schemeClr val="dk1"/>
              </a:solidFill>
              <a:latin typeface="Calibri"/>
              <a:ea typeface="Calibri"/>
              <a:cs typeface="Calibri"/>
              <a:sym typeface="Calibri"/>
            </a:endParaRPr>
          </a:p>
        </p:txBody>
      </p:sp>
      <p:sp>
        <p:nvSpPr>
          <p:cNvPr id="242" name="Google Shape;242;p19"/>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0"/>
          <p:cNvSpPr txBox="1"/>
          <p:nvPr>
            <p:ph type="title"/>
          </p:nvPr>
        </p:nvSpPr>
        <p:spPr>
          <a:xfrm>
            <a:off x="457200" y="384048"/>
            <a:ext cx="822960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2E"/>
              </a:buClr>
              <a:buSzPts val="3200"/>
              <a:buFont typeface="Calibri"/>
              <a:buNone/>
            </a:pPr>
            <a:r>
              <a:rPr b="1" lang="en-US" sz="3200">
                <a:solidFill>
                  <a:srgbClr val="1A1A2E"/>
                </a:solidFill>
                <a:latin typeface="Calibri"/>
                <a:ea typeface="Calibri"/>
                <a:cs typeface="Calibri"/>
                <a:sym typeface="Calibri"/>
              </a:rPr>
              <a:t>Future Roadmap</a:t>
            </a:r>
            <a:endParaRPr sz="3200"/>
          </a:p>
        </p:txBody>
      </p:sp>
      <p:sp>
        <p:nvSpPr>
          <p:cNvPr id="249" name="Google Shape;249;p20"/>
          <p:cNvSpPr/>
          <p:nvPr/>
        </p:nvSpPr>
        <p:spPr>
          <a:xfrm>
            <a:off x="457200" y="1280160"/>
            <a:ext cx="457200" cy="457200"/>
          </a:xfrm>
          <a:prstGeom prst="ellipse">
            <a:avLst/>
          </a:prstGeom>
          <a:solidFill>
            <a:srgbClr val="3B7CF4"/>
          </a:solidFill>
          <a:ln cap="flat" cmpd="sng" w="12700">
            <a:solidFill>
              <a:srgbClr val="3B7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0"/>
          <p:cNvSpPr txBox="1"/>
          <p:nvPr/>
        </p:nvSpPr>
        <p:spPr>
          <a:xfrm>
            <a:off x="457200" y="12801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251" name="Google Shape;251;p20"/>
          <p:cNvSpPr txBox="1"/>
          <p:nvPr/>
        </p:nvSpPr>
        <p:spPr>
          <a:xfrm>
            <a:off x="1097280" y="1234440"/>
            <a:ext cx="7589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Full hardware acceptance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Compile, calibrate and test every brick; measure gyro drift</a:t>
            </a:r>
            <a:endParaRPr b="0" i="0" sz="1600" u="none" cap="none" strike="noStrike">
              <a:solidFill>
                <a:schemeClr val="dk1"/>
              </a:solidFill>
              <a:latin typeface="Calibri"/>
              <a:ea typeface="Calibri"/>
              <a:cs typeface="Calibri"/>
              <a:sym typeface="Calibri"/>
            </a:endParaRPr>
          </a:p>
        </p:txBody>
      </p:sp>
      <p:sp>
        <p:nvSpPr>
          <p:cNvPr id="252" name="Google Shape;252;p20"/>
          <p:cNvSpPr/>
          <p:nvPr/>
        </p:nvSpPr>
        <p:spPr>
          <a:xfrm>
            <a:off x="457200" y="1938528"/>
            <a:ext cx="457200" cy="457200"/>
          </a:xfrm>
          <a:prstGeom prst="ellipse">
            <a:avLst/>
          </a:prstGeom>
          <a:solidFill>
            <a:srgbClr val="3B7CF4"/>
          </a:solidFill>
          <a:ln cap="flat" cmpd="sng" w="12700">
            <a:solidFill>
              <a:srgbClr val="3B7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0"/>
          <p:cNvSpPr txBox="1"/>
          <p:nvPr/>
        </p:nvSpPr>
        <p:spPr>
          <a:xfrm>
            <a:off x="457200" y="193852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254" name="Google Shape;254;p20"/>
          <p:cNvSpPr txBox="1"/>
          <p:nvPr/>
        </p:nvSpPr>
        <p:spPr>
          <a:xfrm>
            <a:off x="1097280" y="1892808"/>
            <a:ext cx="7589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Continuous instrument presence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Move beyond last-scan RFID to confirm tools are still seated</a:t>
            </a:r>
            <a:endParaRPr b="0" i="0" sz="1600" u="none" cap="none" strike="noStrike">
              <a:solidFill>
                <a:schemeClr val="dk1"/>
              </a:solidFill>
              <a:latin typeface="Calibri"/>
              <a:ea typeface="Calibri"/>
              <a:cs typeface="Calibri"/>
              <a:sym typeface="Calibri"/>
            </a:endParaRPr>
          </a:p>
        </p:txBody>
      </p:sp>
      <p:sp>
        <p:nvSpPr>
          <p:cNvPr id="255" name="Google Shape;255;p20"/>
          <p:cNvSpPr/>
          <p:nvPr/>
        </p:nvSpPr>
        <p:spPr>
          <a:xfrm>
            <a:off x="457200" y="2596896"/>
            <a:ext cx="457200" cy="457200"/>
          </a:xfrm>
          <a:prstGeom prst="ellipse">
            <a:avLst/>
          </a:prstGeom>
          <a:solidFill>
            <a:srgbClr val="3B7CF4"/>
          </a:solidFill>
          <a:ln cap="flat" cmpd="sng" w="12700">
            <a:solidFill>
              <a:srgbClr val="3B7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0"/>
          <p:cNvSpPr txBox="1"/>
          <p:nvPr/>
        </p:nvSpPr>
        <p:spPr>
          <a:xfrm>
            <a:off x="457200" y="259689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257" name="Google Shape;257;p20"/>
          <p:cNvSpPr txBox="1"/>
          <p:nvPr/>
        </p:nvSpPr>
        <p:spPr>
          <a:xfrm>
            <a:off x="1097280" y="2551176"/>
            <a:ext cx="7589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272"/>
              </a:buClr>
              <a:buSzPts val="1400"/>
              <a:buFont typeface="Calibri"/>
              <a:buNone/>
            </a:pPr>
            <a:r>
              <a:t/>
            </a:r>
            <a:endParaRPr b="0" i="0" sz="1600" u="none" cap="none" strike="noStrike">
              <a:solidFill>
                <a:schemeClr val="dk1"/>
              </a:solidFill>
              <a:latin typeface="Calibri"/>
              <a:ea typeface="Calibri"/>
              <a:cs typeface="Calibri"/>
              <a:sym typeface="Calibri"/>
            </a:endParaRPr>
          </a:p>
        </p:txBody>
      </p:sp>
      <p:sp>
        <p:nvSpPr>
          <p:cNvPr id="258" name="Google Shape;258;p20"/>
          <p:cNvSpPr/>
          <p:nvPr/>
        </p:nvSpPr>
        <p:spPr>
          <a:xfrm>
            <a:off x="457200" y="3255264"/>
            <a:ext cx="457200" cy="457200"/>
          </a:xfrm>
          <a:prstGeom prst="ellipse">
            <a:avLst/>
          </a:prstGeom>
          <a:solidFill>
            <a:srgbClr val="3B7CF4"/>
          </a:solidFill>
          <a:ln cap="flat" cmpd="sng" w="12700">
            <a:solidFill>
              <a:srgbClr val="3B7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0"/>
          <p:cNvSpPr txBox="1"/>
          <p:nvPr/>
        </p:nvSpPr>
        <p:spPr>
          <a:xfrm>
            <a:off x="457200" y="325526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260" name="Google Shape;260;p20"/>
          <p:cNvSpPr txBox="1"/>
          <p:nvPr/>
        </p:nvSpPr>
        <p:spPr>
          <a:xfrm>
            <a:off x="1097280" y="2596894"/>
            <a:ext cx="7589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Modular 3D-printed enclosures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Snap-fit casing with instrument slots and diffusers</a:t>
            </a:r>
            <a:endParaRPr b="0" i="0" sz="1600" u="none" cap="none" strike="noStrike">
              <a:solidFill>
                <a:schemeClr val="dk1"/>
              </a:solidFill>
              <a:latin typeface="Calibri"/>
              <a:ea typeface="Calibri"/>
              <a:cs typeface="Calibri"/>
              <a:sym typeface="Calibri"/>
            </a:endParaRPr>
          </a:p>
        </p:txBody>
      </p:sp>
      <p:sp>
        <p:nvSpPr>
          <p:cNvPr id="261" name="Google Shape;261;p20"/>
          <p:cNvSpPr txBox="1"/>
          <p:nvPr/>
        </p:nvSpPr>
        <p:spPr>
          <a:xfrm>
            <a:off x="1097280" y="3255262"/>
            <a:ext cx="7589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i="0" lang="en-US" sz="1600" u="none" cap="none" strike="noStrike">
                <a:solidFill>
                  <a:srgbClr val="1A1A2E"/>
                </a:solidFill>
                <a:latin typeface="Calibri"/>
                <a:ea typeface="Calibri"/>
                <a:cs typeface="Calibri"/>
                <a:sym typeface="Calibri"/>
              </a:rPr>
              <a:t>Haptic and audio confirmation</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272"/>
              </a:buClr>
              <a:buSzPts val="1400"/>
              <a:buFont typeface="Calibri"/>
              <a:buNone/>
            </a:pPr>
            <a:r>
              <a:rPr b="0" i="0" lang="en-US" sz="1400" u="none" cap="none" strike="noStrike">
                <a:solidFill>
                  <a:srgbClr val="5A6272"/>
                </a:solidFill>
                <a:latin typeface="Calibri"/>
                <a:ea typeface="Calibri"/>
                <a:cs typeface="Calibri"/>
                <a:sym typeface="Calibri"/>
              </a:rPr>
              <a:t>Tactile feedback for alignment and docking events</a:t>
            </a:r>
            <a:endParaRPr b="0" i="0" sz="1600" u="none" cap="none" strike="noStrike">
              <a:solidFill>
                <a:schemeClr val="dk1"/>
              </a:solidFill>
              <a:latin typeface="Calibri"/>
              <a:ea typeface="Calibri"/>
              <a:cs typeface="Calibri"/>
              <a:sym typeface="Calibri"/>
            </a:endParaRPr>
          </a:p>
        </p:txBody>
      </p:sp>
      <p:sp>
        <p:nvSpPr>
          <p:cNvPr id="262" name="Google Shape;262;p20"/>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5A6272"/>
                </a:solidFill>
                <a:latin typeface="Calibri"/>
                <a:ea typeface="Calibri"/>
                <a:cs typeface="Calibri"/>
                <a:sym typeface="Calibri"/>
              </a:rPr>
              <a:t>‹#›</a:t>
            </a:fld>
            <a:endParaRPr b="0" i="0" sz="1000" u="none" cap="none" strike="noStrike">
              <a:solidFill>
                <a:srgbClr val="5A6272"/>
              </a:solidFill>
              <a:latin typeface="Calibri"/>
              <a:ea typeface="Calibri"/>
              <a:cs typeface="Calibri"/>
              <a:sym typeface="Calibri"/>
            </a:endParaRPr>
          </a:p>
        </p:txBody>
      </p:sp>
      <p:sp>
        <p:nvSpPr>
          <p:cNvPr id="263" name="Google Shape;263;p20"/>
          <p:cNvSpPr/>
          <p:nvPr/>
        </p:nvSpPr>
        <p:spPr>
          <a:xfrm>
            <a:off x="457200" y="3875814"/>
            <a:ext cx="457200" cy="457200"/>
          </a:xfrm>
          <a:prstGeom prst="ellipse">
            <a:avLst/>
          </a:prstGeom>
          <a:solidFill>
            <a:srgbClr val="3B7CF4"/>
          </a:solidFill>
          <a:ln cap="flat" cmpd="sng" w="12700">
            <a:solidFill>
              <a:srgbClr val="3B7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0"/>
          <p:cNvSpPr txBox="1"/>
          <p:nvPr/>
        </p:nvSpPr>
        <p:spPr>
          <a:xfrm>
            <a:off x="457200" y="387581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265" name="Google Shape;265;p20"/>
          <p:cNvSpPr txBox="1"/>
          <p:nvPr/>
        </p:nvSpPr>
        <p:spPr>
          <a:xfrm>
            <a:off x="1062155" y="3820937"/>
            <a:ext cx="7589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1" lang="en-US" sz="1600">
                <a:solidFill>
                  <a:srgbClr val="1A1A2E"/>
                </a:solidFill>
                <a:latin typeface="Calibri"/>
                <a:ea typeface="Calibri"/>
                <a:cs typeface="Calibri"/>
                <a:sym typeface="Calibri"/>
              </a:rPr>
              <a:t>IoT Advancement</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272"/>
              </a:buClr>
              <a:buSzPts val="1400"/>
              <a:buFont typeface="Calibri"/>
              <a:buNone/>
            </a:pPr>
            <a:r>
              <a:rPr lang="en-US">
                <a:solidFill>
                  <a:srgbClr val="5A6272"/>
                </a:solidFill>
                <a:latin typeface="Calibri"/>
                <a:ea typeface="Calibri"/>
                <a:cs typeface="Calibri"/>
                <a:sym typeface="Calibri"/>
              </a:rPr>
              <a:t>Potential Cloud based Integration for </a:t>
            </a:r>
            <a:r>
              <a:rPr lang="en-US">
                <a:solidFill>
                  <a:srgbClr val="5A6272"/>
                </a:solidFill>
                <a:latin typeface="Calibri"/>
                <a:ea typeface="Calibri"/>
                <a:cs typeface="Calibri"/>
                <a:sym typeface="Calibri"/>
              </a:rPr>
              <a:t>log keeping</a:t>
            </a:r>
            <a:r>
              <a:rPr lang="en-US">
                <a:solidFill>
                  <a:srgbClr val="5A6272"/>
                </a:solidFill>
                <a:latin typeface="Calibri"/>
                <a:ea typeface="Calibri"/>
                <a:cs typeface="Calibri"/>
                <a:sym typeface="Calibri"/>
              </a:rPr>
              <a:t> and recording</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